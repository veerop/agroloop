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Respected judges, we present AgroLoop—a closed-loop circular platform that turns Pune’s urban food waste into certified regenerative soil inputs for smallholder farmers. This presentation is concise and timed for under 4 minutes.</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Pune generates 2,200 tonnes of waste daily, with 1,300 tonnes of food scraps rotting in landfills and releasing potent methane. Simultaneously, farmers just 30 km away suffer from depleted soils with carbon under 0.4%, spending huge sums on chemical fertilizers. The core gap: no reliable, verified logistics bridge connecting urban waste to farm soils.</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Our target users are urban kitchens facing municipal compliance mandates and smallholder farmers needing affordable organic inputs. Current municipal composting fails because over 40% plastic contamination destroys farmer trust, while home composters have an 85% abandonment rate. AgroLoop solves this with digital doorstep quality control.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AgroLoop operates a 4-stage closed loop: First, EV loaders collect segregated scraps with doorstep weight and purity checks. Second, our Bhosari hub converts it into 4 certified inputs—vermicompost, biochar, liquid fertilizer, and bokashi. Third, we deliver directly to farmer clusters. Fourth, our Gemini AI agronomist advises farmers on exact soil dosages.</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Our platform is fully built and working. The frontend uses Next.js 15 with Tailwind, backed by Supabase PostgreSQL with strict Row Level Security. We integrate Google Gemini 1.5 with a deterministic agronomy rule engine that ensures fertilizer advice never hallucinates. MapLibre GL tracks real-time EV logistics across Pune, Bhosari, and Khed.</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AgroLoop is economically compelling: collection costs ₹2.80/kg and processing ₹3.50/kg, against a blended sale price of ₹14.50/kg, unlocking a 56% gross margin. Each hub diverts 1,500 tonnes of waste annually, abating 1,875 tonnes of CO₂e, while cutting smallholder farmer fertilizer costs by 35%.</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We scale in three distinct phases: Phase 1 proves the Bhosari hub in Pune. Phase 2 expands to Pimpri-Chinchwad and corporate canteens in the Chakan auto corridor, achieving profitability. Phase 3 deploys containerized micro-refineries across Maharashtra’s agricultural belts, generating ₹2.25 Crores ARR.</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112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914400" y="1645920"/>
            <a:ext cx="10332720" cy="2011680"/>
          </a:xfrm>
          <a:prstGeom prst="rect">
            <a:avLst/>
          </a:prstGeom>
          <a:noFill/>
        </p:spPr>
        <p:txBody>
          <a:bodyPr wrap="square">
            <a:spAutoFit/>
          </a:bodyPr>
          <a:lstStyle/>
          <a:p>
            <a:pPr>
              <a:defRPr sz="5600" b="1">
                <a:solidFill>
                  <a:srgbClr val="FFFFFF"/>
                </a:solidFill>
              </a:defRPr>
            </a:pPr>
            <a:r>
              <a:t>AGROLOOP</a:t>
            </a:r>
          </a:p>
          <a:p>
            <a:pPr>
              <a:spcBef>
                <a:spcPts val="800"/>
              </a:spcBef>
              <a:defRPr sz="2200" b="1">
                <a:solidFill>
                  <a:srgbClr val="10B981"/>
                </a:solidFill>
              </a:defRPr>
            </a:pPr>
            <a:r>
              <a:t>Closing the Loop Between Urban Food Waste &amp; Regenerative Soils</a:t>
            </a:r>
          </a:p>
          <a:p>
            <a:pPr>
              <a:spcBef>
                <a:spcPts val="600"/>
              </a:spcBef>
              <a:defRPr sz="1400">
                <a:solidFill>
                  <a:srgbClr val="94A3B8"/>
                </a:solidFill>
              </a:defRPr>
            </a:pPr>
            <a:r>
              <a:t>A Closed-Loop Circular Bio-Economy Platform for Pune, Maharashtra</a:t>
            </a:r>
          </a:p>
        </p:txBody>
      </p:sp>
      <p:sp>
        <p:nvSpPr>
          <p:cNvPr id="4" name="Rounded Rectangle 3"/>
          <p:cNvSpPr/>
          <p:nvPr/>
        </p:nvSpPr>
        <p:spPr>
          <a:xfrm>
            <a:off x="914400" y="4114800"/>
            <a:ext cx="3200400" cy="1645920"/>
          </a:xfrm>
          <a:prstGeom prst="roundRect">
            <a:avLst/>
          </a:prstGeom>
          <a:solidFill>
            <a:srgbClr val="131D33"/>
          </a:solidFill>
          <a:ln w="12700">
            <a:solidFill>
              <a:srgbClr val="22314E"/>
            </a:solidFill>
          </a:ln>
        </p:spPr>
        <p:style>
          <a:lnRef idx="1">
            <a:schemeClr val="accent1"/>
          </a:lnRef>
          <a:fillRef idx="3">
            <a:schemeClr val="accent1"/>
          </a:fillRef>
          <a:effectRef idx="2">
            <a:schemeClr val="accent1"/>
          </a:effectRef>
          <a:fontRef idx="minor">
            <a:schemeClr val="lt1"/>
          </a:fontRef>
        </p:style>
        <p:txBody>
          <a:bodyPr rtlCol="0" anchor="ctr" wrap="square" lIns="228600" rIns="228600" tIns="201168" bIns="182880"/>
          <a:lstStyle/>
          <a:p>
            <a:pPr algn="ctr">
              <a:defRPr sz="1500" b="1">
                <a:solidFill>
                  <a:srgbClr val="FFFFFF"/>
                </a:solidFill>
              </a:defRPr>
            </a:pPr>
            <a:r>
              <a:t>Urban Food Waste</a:t>
            </a:r>
          </a:p>
          <a:p>
            <a:pPr>
              <a:spcBef>
                <a:spcPts val="400"/>
              </a:spcBef>
              <a:defRPr sz="2200" b="1">
                <a:solidFill>
                  <a:srgbClr val="F43F5E"/>
                </a:solidFill>
              </a:defRPr>
            </a:pPr>
            <a:r>
              <a:t>2,200 MT</a:t>
            </a:r>
          </a:p>
          <a:p>
            <a:pPr>
              <a:spcAft>
                <a:spcPts val="600"/>
              </a:spcAft>
              <a:defRPr sz="1000">
                <a:solidFill>
                  <a:srgbClr val="94A3B8"/>
                </a:solidFill>
              </a:defRPr>
            </a:pPr>
            <a:r>
              <a:t>Daily Generation</a:t>
            </a:r>
          </a:p>
          <a:p>
            <a:pPr>
              <a:spcBef>
                <a:spcPts val="300"/>
              </a:spcBef>
              <a:defRPr sz="1100">
                <a:solidFill>
                  <a:srgbClr val="E2E8F0"/>
                </a:solidFill>
              </a:defRPr>
            </a:pPr>
            <a:r>
              <a:t>• 2,200 MT dumped daily in Pune</a:t>
            </a:r>
          </a:p>
          <a:p>
            <a:pPr>
              <a:spcBef>
                <a:spcPts val="300"/>
              </a:spcBef>
              <a:defRPr sz="1100">
                <a:solidFill>
                  <a:srgbClr val="E2E8F0"/>
                </a:solidFill>
              </a:defRPr>
            </a:pPr>
            <a:r>
              <a:t>• 60%+ wet compostable organic scraps</a:t>
            </a:r>
          </a:p>
        </p:txBody>
      </p:sp>
      <p:sp>
        <p:nvSpPr>
          <p:cNvPr id="5" name="Rounded Rectangle 4"/>
          <p:cNvSpPr/>
          <p:nvPr/>
        </p:nvSpPr>
        <p:spPr>
          <a:xfrm>
            <a:off x="4480560" y="4114800"/>
            <a:ext cx="3200400" cy="1645920"/>
          </a:xfrm>
          <a:prstGeom prst="roundRect">
            <a:avLst/>
          </a:prstGeom>
          <a:solidFill>
            <a:srgbClr val="131D33"/>
          </a:solidFill>
          <a:ln w="12700">
            <a:solidFill>
              <a:srgbClr val="22314E"/>
            </a:solidFill>
          </a:ln>
        </p:spPr>
        <p:style>
          <a:lnRef idx="1">
            <a:schemeClr val="accent1"/>
          </a:lnRef>
          <a:fillRef idx="3">
            <a:schemeClr val="accent1"/>
          </a:fillRef>
          <a:effectRef idx="2">
            <a:schemeClr val="accent1"/>
          </a:effectRef>
          <a:fontRef idx="minor">
            <a:schemeClr val="lt1"/>
          </a:fontRef>
        </p:style>
        <p:txBody>
          <a:bodyPr rtlCol="0" anchor="ctr" wrap="square" lIns="228600" rIns="228600" tIns="201168" bIns="182880"/>
          <a:lstStyle/>
          <a:p>
            <a:pPr algn="ctr">
              <a:defRPr sz="1500" b="1">
                <a:solidFill>
                  <a:srgbClr val="FFFFFF"/>
                </a:solidFill>
              </a:defRPr>
            </a:pPr>
            <a:r>
              <a:t>Depleted Soil Carbon</a:t>
            </a:r>
          </a:p>
          <a:p>
            <a:pPr>
              <a:spcBef>
                <a:spcPts val="400"/>
              </a:spcBef>
              <a:defRPr sz="2200" b="1">
                <a:solidFill>
                  <a:srgbClr val="F59E0B"/>
                </a:solidFill>
              </a:defRPr>
            </a:pPr>
            <a:r>
              <a:t>&lt;0.4% SOC</a:t>
            </a:r>
          </a:p>
          <a:p>
            <a:pPr>
              <a:spcAft>
                <a:spcPts val="600"/>
              </a:spcAft>
              <a:defRPr sz="1000">
                <a:solidFill>
                  <a:srgbClr val="94A3B8"/>
                </a:solidFill>
              </a:defRPr>
            </a:pPr>
            <a:r>
              <a:t>Soil Degradation</a:t>
            </a:r>
          </a:p>
          <a:p>
            <a:pPr>
              <a:spcBef>
                <a:spcPts val="300"/>
              </a:spcBef>
              <a:defRPr sz="1100">
                <a:solidFill>
                  <a:srgbClr val="E2E8F0"/>
                </a:solidFill>
              </a:defRPr>
            </a:pPr>
            <a:r>
              <a:t>• Maharashtra soils collapsed to &lt;0.4%</a:t>
            </a:r>
          </a:p>
          <a:p>
            <a:pPr>
              <a:spcBef>
                <a:spcPts val="300"/>
              </a:spcBef>
              <a:defRPr sz="1100">
                <a:solidFill>
                  <a:srgbClr val="E2E8F0"/>
                </a:solidFill>
              </a:defRPr>
            </a:pPr>
            <a:r>
              <a:t>• ₹35,000/acre chemical input burden</a:t>
            </a:r>
          </a:p>
        </p:txBody>
      </p:sp>
      <p:sp>
        <p:nvSpPr>
          <p:cNvPr id="6" name="Rounded Rectangle 5"/>
          <p:cNvSpPr/>
          <p:nvPr/>
        </p:nvSpPr>
        <p:spPr>
          <a:xfrm>
            <a:off x="8046720" y="4114800"/>
            <a:ext cx="3200400" cy="1645920"/>
          </a:xfrm>
          <a:prstGeom prst="roundRect">
            <a:avLst/>
          </a:prstGeom>
          <a:solidFill>
            <a:srgbClr val="131D33"/>
          </a:solidFill>
          <a:ln w="12700">
            <a:solidFill>
              <a:srgbClr val="22314E"/>
            </a:solidFill>
          </a:ln>
        </p:spPr>
        <p:style>
          <a:lnRef idx="1">
            <a:schemeClr val="accent1"/>
          </a:lnRef>
          <a:fillRef idx="3">
            <a:schemeClr val="accent1"/>
          </a:fillRef>
          <a:effectRef idx="2">
            <a:schemeClr val="accent1"/>
          </a:effectRef>
          <a:fontRef idx="minor">
            <a:schemeClr val="lt1"/>
          </a:fontRef>
        </p:style>
        <p:txBody>
          <a:bodyPr rtlCol="0" anchor="ctr" wrap="square" lIns="228600" rIns="228600" tIns="201168" bIns="182880"/>
          <a:lstStyle/>
          <a:p>
            <a:pPr algn="ctr">
              <a:defRPr sz="1500" b="1">
                <a:solidFill>
                  <a:srgbClr val="FFFFFF"/>
                </a:solidFill>
              </a:defRPr>
            </a:pPr>
            <a:r>
              <a:t>Unit Gross Margin</a:t>
            </a:r>
          </a:p>
          <a:p>
            <a:pPr>
              <a:spcBef>
                <a:spcPts val="400"/>
              </a:spcBef>
              <a:defRPr sz="2200" b="1">
                <a:solidFill>
                  <a:srgbClr val="10B981"/>
                </a:solidFill>
              </a:defRPr>
            </a:pPr>
            <a:r>
              <a:t>56% Margin</a:t>
            </a:r>
          </a:p>
          <a:p>
            <a:pPr>
              <a:spcAft>
                <a:spcPts val="600"/>
              </a:spcAft>
              <a:defRPr sz="1000">
                <a:solidFill>
                  <a:srgbClr val="94A3B8"/>
                </a:solidFill>
              </a:defRPr>
            </a:pPr>
            <a:r>
              <a:t>Circular Economics</a:t>
            </a:r>
          </a:p>
          <a:p>
            <a:pPr>
              <a:spcBef>
                <a:spcPts val="300"/>
              </a:spcBef>
              <a:defRPr sz="1100">
                <a:solidFill>
                  <a:srgbClr val="E2E8F0"/>
                </a:solidFill>
              </a:defRPr>
            </a:pPr>
            <a:r>
              <a:t>• ₹6.30 cost vs ₹14.50 realization</a:t>
            </a:r>
          </a:p>
          <a:p>
            <a:pPr>
              <a:spcBef>
                <a:spcPts val="300"/>
              </a:spcBef>
              <a:defRPr sz="1100">
                <a:solidFill>
                  <a:srgbClr val="E2E8F0"/>
                </a:solidFill>
              </a:defRPr>
            </a:pPr>
            <a:r>
              <a:t>• 1,875 MT CO₂e avoided per hub/yr</a:t>
            </a:r>
          </a:p>
        </p:txBody>
      </p:sp>
    </p:spTree>
  </p:cSld>
  <p:clrMapOvr>
    <a:masterClrMapping/>
  </p:clrMapOvr>
  <p:transition spd="med">
    <p:fade/>
  </p:transition>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112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7315200" cy="320040"/>
          </a:xfrm>
          <a:prstGeom prst="rect">
            <a:avLst/>
          </a:prstGeom>
          <a:noFill/>
        </p:spPr>
        <p:txBody>
          <a:bodyPr wrap="none">
            <a:spAutoFit/>
          </a:bodyPr>
          <a:lstStyle/>
          <a:p>
            <a:pPr>
              <a:defRPr sz="1100" b="1">
                <a:solidFill>
                  <a:srgbClr val="10B981"/>
                </a:solidFill>
              </a:defRPr>
            </a:pPr>
            <a:r>
              <a:t>SECTION 01 OF 06</a:t>
            </a:r>
          </a:p>
        </p:txBody>
      </p:sp>
      <p:sp>
        <p:nvSpPr>
          <p:cNvPr id="4" name="TextBox 3"/>
          <p:cNvSpPr txBox="1"/>
          <p:nvPr/>
        </p:nvSpPr>
        <p:spPr>
          <a:xfrm>
            <a:off x="731520" y="640080"/>
            <a:ext cx="8686800" cy="594360"/>
          </a:xfrm>
          <a:prstGeom prst="rect">
            <a:avLst/>
          </a:prstGeom>
          <a:noFill/>
        </p:spPr>
        <p:txBody>
          <a:bodyPr wrap="none">
            <a:spAutoFit/>
          </a:bodyPr>
          <a:lstStyle/>
          <a:p>
            <a:pPr>
              <a:defRPr sz="2400" b="1">
                <a:solidFill>
                  <a:srgbClr val="FFFFFF"/>
                </a:solidFill>
              </a:defRPr>
            </a:pPr>
            <a:r>
              <a:t>01. The Problem We Are Solving</a:t>
            </a:r>
          </a:p>
        </p:txBody>
      </p:sp>
      <p:sp>
        <p:nvSpPr>
          <p:cNvPr id="5" name="TextBox 4"/>
          <p:cNvSpPr txBox="1"/>
          <p:nvPr/>
        </p:nvSpPr>
        <p:spPr>
          <a:xfrm>
            <a:off x="731520" y="1234440"/>
            <a:ext cx="8686800" cy="365760"/>
          </a:xfrm>
          <a:prstGeom prst="rect">
            <a:avLst/>
          </a:prstGeom>
          <a:noFill/>
        </p:spPr>
        <p:txBody>
          <a:bodyPr wrap="none">
            <a:spAutoFit/>
          </a:bodyPr>
          <a:lstStyle/>
          <a:p>
            <a:pPr>
              <a:defRPr sz="1200">
                <a:solidFill>
                  <a:srgbClr val="94A3B8"/>
                </a:solidFill>
              </a:defRPr>
            </a:pPr>
            <a:r>
              <a:t>The broken linear economy: city waste overflow vs. rural soil starvation.</a:t>
            </a:r>
          </a:p>
        </p:txBody>
      </p:sp>
      <p:sp>
        <p:nvSpPr>
          <p:cNvPr id="6" name="Rounded Rectangle 5"/>
          <p:cNvSpPr/>
          <p:nvPr/>
        </p:nvSpPr>
        <p:spPr>
          <a:xfrm>
            <a:off x="9601200" y="502920"/>
            <a:ext cx="1828800" cy="502920"/>
          </a:xfrm>
          <a:prstGeom prst="roundRect">
            <a:avLst/>
          </a:prstGeom>
          <a:solidFill>
            <a:srgbClr val="131D33"/>
          </a:solidFill>
          <a:ln>
            <a:solidFill>
              <a:srgbClr val="22314E"/>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100" b="1">
                <a:solidFill>
                  <a:srgbClr val="F59E0B"/>
                </a:solidFill>
              </a:defRPr>
            </a:pPr>
            <a:r>
              <a:t>~30 Seconds</a:t>
            </a:r>
          </a:p>
        </p:txBody>
      </p:sp>
      <p:sp>
        <p:nvSpPr>
          <p:cNvPr id="7" name="Rounded Rectangle 6"/>
          <p:cNvSpPr/>
          <p:nvPr/>
        </p:nvSpPr>
        <p:spPr>
          <a:xfrm>
            <a:off x="731520" y="1828800"/>
            <a:ext cx="3291840" cy="3840480"/>
          </a:xfrm>
          <a:prstGeom prst="roundRect">
            <a:avLst/>
          </a:prstGeom>
          <a:solidFill>
            <a:srgbClr val="131D33"/>
          </a:solidFill>
          <a:ln w="12700">
            <a:solidFill>
              <a:srgbClr val="22314E"/>
            </a:solidFill>
          </a:ln>
        </p:spPr>
        <p:style>
          <a:lnRef idx="1">
            <a:schemeClr val="accent1"/>
          </a:lnRef>
          <a:fillRef idx="3">
            <a:schemeClr val="accent1"/>
          </a:fillRef>
          <a:effectRef idx="2">
            <a:schemeClr val="accent1"/>
          </a:effectRef>
          <a:fontRef idx="minor">
            <a:schemeClr val="lt1"/>
          </a:fontRef>
        </p:style>
        <p:txBody>
          <a:bodyPr rtlCol="0" anchor="ctr" wrap="square" lIns="228600" rIns="228600" tIns="201168" bIns="182880"/>
          <a:lstStyle/>
          <a:p>
            <a:pPr algn="ctr">
              <a:defRPr sz="1500" b="1">
                <a:solidFill>
                  <a:srgbClr val="FFFFFF"/>
                </a:solidFill>
              </a:defRPr>
            </a:pPr>
            <a:r>
              <a:t>Urban Waste Crisis</a:t>
            </a:r>
          </a:p>
          <a:p>
            <a:pPr>
              <a:spcBef>
                <a:spcPts val="400"/>
              </a:spcBef>
              <a:defRPr sz="2200" b="1">
                <a:solidFill>
                  <a:srgbClr val="F43F5E"/>
                </a:solidFill>
              </a:defRPr>
            </a:pPr>
            <a:r>
              <a:t>1,320 MT/d</a:t>
            </a:r>
          </a:p>
          <a:p>
            <a:pPr>
              <a:spcAft>
                <a:spcPts val="600"/>
              </a:spcAft>
              <a:defRPr sz="1000">
                <a:solidFill>
                  <a:srgbClr val="94A3B8"/>
                </a:solidFill>
              </a:defRPr>
            </a:pPr>
            <a:r>
              <a:t>Pune Food Scraps</a:t>
            </a:r>
          </a:p>
          <a:p>
            <a:pPr>
              <a:spcBef>
                <a:spcPts val="300"/>
              </a:spcBef>
              <a:defRPr sz="1100">
                <a:solidFill>
                  <a:srgbClr val="E2E8F0"/>
                </a:solidFill>
              </a:defRPr>
            </a:pPr>
            <a:r>
              <a:t>• Pune generates 2,200 MT of MSW daily</a:t>
            </a:r>
          </a:p>
          <a:p>
            <a:pPr>
              <a:spcBef>
                <a:spcPts val="300"/>
              </a:spcBef>
              <a:defRPr sz="1100">
                <a:solidFill>
                  <a:srgbClr val="E2E8F0"/>
                </a:solidFill>
              </a:defRPr>
            </a:pPr>
            <a:r>
              <a:t>• 1,320 MT wet food waste dumped at Uruli Devachi</a:t>
            </a:r>
          </a:p>
          <a:p>
            <a:pPr>
              <a:spcBef>
                <a:spcPts val="300"/>
              </a:spcBef>
              <a:defRPr sz="1100">
                <a:solidFill>
                  <a:srgbClr val="E2E8F0"/>
                </a:solidFill>
              </a:defRPr>
            </a:pPr>
            <a:r>
              <a:t>• Anaerobic rotting emits methane (28x GWP of CO₂)</a:t>
            </a:r>
          </a:p>
          <a:p>
            <a:pPr>
              <a:spcBef>
                <a:spcPts val="300"/>
              </a:spcBef>
              <a:defRPr sz="1100">
                <a:solidFill>
                  <a:srgbClr val="E2E8F0"/>
                </a:solidFill>
              </a:defRPr>
            </a:pPr>
            <a:r>
              <a:t>• Leachate pollutes Mula-Mutha river basin aquifers</a:t>
            </a:r>
          </a:p>
        </p:txBody>
      </p:sp>
      <p:sp>
        <p:nvSpPr>
          <p:cNvPr id="8" name="Rounded Rectangle 7"/>
          <p:cNvSpPr/>
          <p:nvPr/>
        </p:nvSpPr>
        <p:spPr>
          <a:xfrm>
            <a:off x="4389120" y="1828800"/>
            <a:ext cx="3291840" cy="3840480"/>
          </a:xfrm>
          <a:prstGeom prst="roundRect">
            <a:avLst/>
          </a:prstGeom>
          <a:solidFill>
            <a:srgbClr val="131D33"/>
          </a:solidFill>
          <a:ln w="12700">
            <a:solidFill>
              <a:srgbClr val="22314E"/>
            </a:solidFill>
          </a:ln>
        </p:spPr>
        <p:style>
          <a:lnRef idx="1">
            <a:schemeClr val="accent1"/>
          </a:lnRef>
          <a:fillRef idx="3">
            <a:schemeClr val="accent1"/>
          </a:fillRef>
          <a:effectRef idx="2">
            <a:schemeClr val="accent1"/>
          </a:effectRef>
          <a:fontRef idx="minor">
            <a:schemeClr val="lt1"/>
          </a:fontRef>
        </p:style>
        <p:txBody>
          <a:bodyPr rtlCol="0" anchor="ctr" wrap="square" lIns="228600" rIns="228600" tIns="201168" bIns="182880"/>
          <a:lstStyle/>
          <a:p>
            <a:pPr algn="ctr">
              <a:defRPr sz="1500" b="1">
                <a:solidFill>
                  <a:srgbClr val="FFFFFF"/>
                </a:solidFill>
              </a:defRPr>
            </a:pPr>
            <a:r>
              <a:t>Rural Soil Degradation</a:t>
            </a:r>
          </a:p>
          <a:p>
            <a:pPr>
              <a:spcBef>
                <a:spcPts val="400"/>
              </a:spcBef>
              <a:defRPr sz="2200" b="1">
                <a:solidFill>
                  <a:srgbClr val="F59E0B"/>
                </a:solidFill>
              </a:defRPr>
            </a:pPr>
            <a:r>
              <a:t>&lt;0.4% SOC</a:t>
            </a:r>
          </a:p>
          <a:p>
            <a:pPr>
              <a:spcAft>
                <a:spcPts val="600"/>
              </a:spcAft>
              <a:defRPr sz="1000">
                <a:solidFill>
                  <a:srgbClr val="94A3B8"/>
                </a:solidFill>
              </a:defRPr>
            </a:pPr>
            <a:r>
              <a:t>Soil Carbon Crisis</a:t>
            </a:r>
          </a:p>
          <a:p>
            <a:pPr>
              <a:spcBef>
                <a:spcPts val="300"/>
              </a:spcBef>
              <a:defRPr sz="1100">
                <a:solidFill>
                  <a:srgbClr val="E2E8F0"/>
                </a:solidFill>
              </a:defRPr>
            </a:pPr>
            <a:r>
              <a:t>• Peri-urban farmers in Khed/Junnar face soil collapse</a:t>
            </a:r>
          </a:p>
          <a:p>
            <a:pPr>
              <a:spcBef>
                <a:spcPts val="300"/>
              </a:spcBef>
              <a:defRPr sz="1100">
                <a:solidFill>
                  <a:srgbClr val="E2E8F0"/>
                </a:solidFill>
              </a:defRPr>
            </a:pPr>
            <a:r>
              <a:t>• Soil Organic Carbon (SOC) has dropped to &lt;0.4%</a:t>
            </a:r>
          </a:p>
          <a:p>
            <a:pPr>
              <a:spcBef>
                <a:spcPts val="300"/>
              </a:spcBef>
              <a:defRPr sz="1100">
                <a:solidFill>
                  <a:srgbClr val="E2E8F0"/>
                </a:solidFill>
              </a:defRPr>
            </a:pPr>
            <a:r>
              <a:t>• Farmers spend ₹35,000/acre on chemical fertilizers</a:t>
            </a:r>
          </a:p>
          <a:p>
            <a:pPr>
              <a:spcBef>
                <a:spcPts val="300"/>
              </a:spcBef>
              <a:defRPr sz="1100">
                <a:solidFill>
                  <a:srgbClr val="E2E8F0"/>
                </a:solidFill>
              </a:defRPr>
            </a:pPr>
            <a:r>
              <a:t>• Destroys soil biology &amp; reduces water retention</a:t>
            </a:r>
          </a:p>
        </p:txBody>
      </p:sp>
      <p:sp>
        <p:nvSpPr>
          <p:cNvPr id="9" name="Rounded Rectangle 8"/>
          <p:cNvSpPr/>
          <p:nvPr/>
        </p:nvSpPr>
        <p:spPr>
          <a:xfrm>
            <a:off x="8046720" y="1828800"/>
            <a:ext cx="3383280" cy="3840480"/>
          </a:xfrm>
          <a:prstGeom prst="roundRect">
            <a:avLst/>
          </a:prstGeom>
          <a:solidFill>
            <a:srgbClr val="131D33"/>
          </a:solidFill>
          <a:ln w="12700">
            <a:solidFill>
              <a:srgbClr val="22314E"/>
            </a:solidFill>
          </a:ln>
        </p:spPr>
        <p:style>
          <a:lnRef idx="1">
            <a:schemeClr val="accent1"/>
          </a:lnRef>
          <a:fillRef idx="3">
            <a:schemeClr val="accent1"/>
          </a:fillRef>
          <a:effectRef idx="2">
            <a:schemeClr val="accent1"/>
          </a:effectRef>
          <a:fontRef idx="minor">
            <a:schemeClr val="lt1"/>
          </a:fontRef>
        </p:style>
        <p:txBody>
          <a:bodyPr rtlCol="0" anchor="ctr" wrap="square" lIns="228600" rIns="228600" tIns="201168" bIns="182880"/>
          <a:lstStyle/>
          <a:p>
            <a:pPr algn="ctr">
              <a:defRPr sz="1500" b="1">
                <a:solidFill>
                  <a:srgbClr val="FFFFFF"/>
                </a:solidFill>
              </a:defRPr>
            </a:pPr>
            <a:r>
              <a:t>The Core System Gap</a:t>
            </a:r>
          </a:p>
          <a:p>
            <a:pPr>
              <a:spcBef>
                <a:spcPts val="400"/>
              </a:spcBef>
              <a:defRPr sz="2200" b="1">
                <a:solidFill>
                  <a:srgbClr val="38BDF8"/>
                </a:solidFill>
              </a:defRPr>
            </a:pPr>
            <a:r>
              <a:t>Broken Loop</a:t>
            </a:r>
          </a:p>
          <a:p>
            <a:pPr>
              <a:spcAft>
                <a:spcPts val="600"/>
              </a:spcAft>
              <a:defRPr sz="1000">
                <a:solidFill>
                  <a:srgbClr val="94A3B8"/>
                </a:solidFill>
              </a:defRPr>
            </a:pPr>
            <a:r>
              <a:t>Missing Link</a:t>
            </a:r>
          </a:p>
          <a:p>
            <a:pPr>
              <a:spcBef>
                <a:spcPts val="300"/>
              </a:spcBef>
              <a:defRPr sz="1100">
                <a:solidFill>
                  <a:srgbClr val="E2E8F0"/>
                </a:solidFill>
              </a:defRPr>
            </a:pPr>
            <a:r>
              <a:t>• Zero verified logistics link between cities and farms</a:t>
            </a:r>
          </a:p>
          <a:p>
            <a:pPr>
              <a:spcBef>
                <a:spcPts val="300"/>
              </a:spcBef>
              <a:defRPr sz="1100">
                <a:solidFill>
                  <a:srgbClr val="E2E8F0"/>
                </a:solidFill>
              </a:defRPr>
            </a:pPr>
            <a:r>
              <a:t>• Municipal compost has 40%+ plastic contamination</a:t>
            </a:r>
          </a:p>
          <a:p>
            <a:pPr>
              <a:spcBef>
                <a:spcPts val="300"/>
              </a:spcBef>
              <a:defRPr sz="1100">
                <a:solidFill>
                  <a:srgbClr val="E2E8F0"/>
                </a:solidFill>
              </a:defRPr>
            </a:pPr>
            <a:r>
              <a:t>• Farmers refuse to buy low-grade city compost</a:t>
            </a:r>
          </a:p>
          <a:p>
            <a:pPr>
              <a:spcBef>
                <a:spcPts val="300"/>
              </a:spcBef>
              <a:defRPr sz="1100">
                <a:solidFill>
                  <a:srgbClr val="E2E8F0"/>
                </a:solidFill>
              </a:defRPr>
            </a:pPr>
            <a:r>
              <a:t>• Complete lack of data-driven crop soil advisory</a:t>
            </a:r>
          </a:p>
        </p:txBody>
      </p:sp>
    </p:spTree>
  </p:cSld>
  <p:clrMapOvr>
    <a:masterClrMapping/>
  </p:clrMapOvr>
  <p:transition spd="med">
    <p:fade/>
  </p:transition>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112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7315200" cy="320040"/>
          </a:xfrm>
          <a:prstGeom prst="rect">
            <a:avLst/>
          </a:prstGeom>
          <a:noFill/>
        </p:spPr>
        <p:txBody>
          <a:bodyPr wrap="none">
            <a:spAutoFit/>
          </a:bodyPr>
          <a:lstStyle/>
          <a:p>
            <a:pPr>
              <a:defRPr sz="1100" b="1">
                <a:solidFill>
                  <a:srgbClr val="10B981"/>
                </a:solidFill>
              </a:defRPr>
            </a:pPr>
            <a:r>
              <a:t>SECTION 02 OF 06</a:t>
            </a:r>
          </a:p>
        </p:txBody>
      </p:sp>
      <p:sp>
        <p:nvSpPr>
          <p:cNvPr id="4" name="TextBox 3"/>
          <p:cNvSpPr txBox="1"/>
          <p:nvPr/>
        </p:nvSpPr>
        <p:spPr>
          <a:xfrm>
            <a:off x="731520" y="640080"/>
            <a:ext cx="8686800" cy="594360"/>
          </a:xfrm>
          <a:prstGeom prst="rect">
            <a:avLst/>
          </a:prstGeom>
          <a:noFill/>
        </p:spPr>
        <p:txBody>
          <a:bodyPr wrap="none">
            <a:spAutoFit/>
          </a:bodyPr>
          <a:lstStyle/>
          <a:p>
            <a:pPr>
              <a:defRPr sz="2400" b="1">
                <a:solidFill>
                  <a:srgbClr val="FFFFFF"/>
                </a:solidFill>
              </a:defRPr>
            </a:pPr>
            <a:r>
              <a:t>02. Target Users &amp; The Existing Gap</a:t>
            </a:r>
          </a:p>
        </p:txBody>
      </p:sp>
      <p:sp>
        <p:nvSpPr>
          <p:cNvPr id="5" name="TextBox 4"/>
          <p:cNvSpPr txBox="1"/>
          <p:nvPr/>
        </p:nvSpPr>
        <p:spPr>
          <a:xfrm>
            <a:off x="731520" y="1234440"/>
            <a:ext cx="8686800" cy="365760"/>
          </a:xfrm>
          <a:prstGeom prst="rect">
            <a:avLst/>
          </a:prstGeom>
          <a:noFill/>
        </p:spPr>
        <p:txBody>
          <a:bodyPr wrap="none">
            <a:spAutoFit/>
          </a:bodyPr>
          <a:lstStyle/>
          <a:p>
            <a:pPr>
              <a:defRPr sz="1200">
                <a:solidFill>
                  <a:srgbClr val="94A3B8"/>
                </a:solidFill>
              </a:defRPr>
            </a:pPr>
            <a:r>
              <a:t>Who experiences the problem and why do existing solutions fail?</a:t>
            </a:r>
          </a:p>
        </p:txBody>
      </p:sp>
      <p:sp>
        <p:nvSpPr>
          <p:cNvPr id="6" name="Rounded Rectangle 5"/>
          <p:cNvSpPr/>
          <p:nvPr/>
        </p:nvSpPr>
        <p:spPr>
          <a:xfrm>
            <a:off x="9601200" y="502920"/>
            <a:ext cx="1828800" cy="502920"/>
          </a:xfrm>
          <a:prstGeom prst="roundRect">
            <a:avLst/>
          </a:prstGeom>
          <a:solidFill>
            <a:srgbClr val="131D33"/>
          </a:solidFill>
          <a:ln>
            <a:solidFill>
              <a:srgbClr val="22314E"/>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100" b="1">
                <a:solidFill>
                  <a:srgbClr val="F59E0B"/>
                </a:solidFill>
              </a:defRPr>
            </a:pPr>
            <a:r>
              <a:t>~30 Seconds</a:t>
            </a:r>
          </a:p>
        </p:txBody>
      </p:sp>
      <p:sp>
        <p:nvSpPr>
          <p:cNvPr id="7" name="Rounded Rectangle 6"/>
          <p:cNvSpPr/>
          <p:nvPr/>
        </p:nvSpPr>
        <p:spPr>
          <a:xfrm>
            <a:off x="731520" y="1828800"/>
            <a:ext cx="5120640" cy="1920240"/>
          </a:xfrm>
          <a:prstGeom prst="roundRect">
            <a:avLst/>
          </a:prstGeom>
          <a:solidFill>
            <a:srgbClr val="131D33"/>
          </a:solidFill>
          <a:ln w="12700">
            <a:solidFill>
              <a:srgbClr val="22314E"/>
            </a:solidFill>
          </a:ln>
        </p:spPr>
        <p:style>
          <a:lnRef idx="1">
            <a:schemeClr val="accent1"/>
          </a:lnRef>
          <a:fillRef idx="3">
            <a:schemeClr val="accent1"/>
          </a:fillRef>
          <a:effectRef idx="2">
            <a:schemeClr val="accent1"/>
          </a:effectRef>
          <a:fontRef idx="minor">
            <a:schemeClr val="lt1"/>
          </a:fontRef>
        </p:style>
        <p:txBody>
          <a:bodyPr rtlCol="0" anchor="ctr" wrap="square" lIns="228600" rIns="228600" tIns="201168" bIns="182880"/>
          <a:lstStyle/>
          <a:p>
            <a:pPr algn="ctr">
              <a:defRPr sz="1500" b="1">
                <a:solidFill>
                  <a:srgbClr val="FFFFFF"/>
                </a:solidFill>
              </a:defRPr>
            </a:pPr>
            <a:r>
              <a:t>1. Urban Households &amp; Restaurants</a:t>
            </a:r>
          </a:p>
          <a:p>
            <a:pPr>
              <a:spcBef>
                <a:spcPts val="400"/>
              </a:spcBef>
              <a:defRPr sz="2200" b="1">
                <a:solidFill>
                  <a:srgbClr val="10B981"/>
                </a:solidFill>
              </a:defRPr>
            </a:pPr>
            <a:r>
              <a:t>1,200+ Kitchens</a:t>
            </a:r>
          </a:p>
          <a:p>
            <a:pPr>
              <a:spcAft>
                <a:spcPts val="600"/>
              </a:spcAft>
              <a:defRPr sz="1000">
                <a:solidFill>
                  <a:srgbClr val="94A3B8"/>
                </a:solidFill>
              </a:defRPr>
            </a:pPr>
            <a:r>
              <a:t>Target Volume</a:t>
            </a:r>
          </a:p>
          <a:p>
            <a:pPr>
              <a:spcBef>
                <a:spcPts val="300"/>
              </a:spcBef>
              <a:defRPr sz="1100">
                <a:solidFill>
                  <a:srgbClr val="E2E8F0"/>
                </a:solidFill>
              </a:defRPr>
            </a:pPr>
            <a:r>
              <a:t>• 400k+ apartments &amp; 1,200+ commercial kitchens</a:t>
            </a:r>
          </a:p>
          <a:p>
            <a:pPr>
              <a:spcBef>
                <a:spcPts val="300"/>
              </a:spcBef>
              <a:defRPr sz="1100">
                <a:solidFill>
                  <a:srgbClr val="E2E8F0"/>
                </a:solidFill>
              </a:defRPr>
            </a:pPr>
            <a:r>
              <a:t>• Need clean collection &amp; verified SWM 2016 compliance to avoid fines</a:t>
            </a:r>
          </a:p>
        </p:txBody>
      </p:sp>
      <p:sp>
        <p:nvSpPr>
          <p:cNvPr id="8" name="Rounded Rectangle 7"/>
          <p:cNvSpPr/>
          <p:nvPr/>
        </p:nvSpPr>
        <p:spPr>
          <a:xfrm>
            <a:off x="6217920" y="1828800"/>
            <a:ext cx="5212080" cy="1920240"/>
          </a:xfrm>
          <a:prstGeom prst="roundRect">
            <a:avLst/>
          </a:prstGeom>
          <a:solidFill>
            <a:srgbClr val="131D33"/>
          </a:solidFill>
          <a:ln w="12700">
            <a:solidFill>
              <a:srgbClr val="22314E"/>
            </a:solidFill>
          </a:ln>
        </p:spPr>
        <p:style>
          <a:lnRef idx="1">
            <a:schemeClr val="accent1"/>
          </a:lnRef>
          <a:fillRef idx="3">
            <a:schemeClr val="accent1"/>
          </a:fillRef>
          <a:effectRef idx="2">
            <a:schemeClr val="accent1"/>
          </a:effectRef>
          <a:fontRef idx="minor">
            <a:schemeClr val="lt1"/>
          </a:fontRef>
        </p:style>
        <p:txBody>
          <a:bodyPr rtlCol="0" anchor="ctr" wrap="square" lIns="228600" rIns="228600" tIns="201168" bIns="182880"/>
          <a:lstStyle/>
          <a:p>
            <a:pPr algn="ctr">
              <a:defRPr sz="1500" b="1">
                <a:solidFill>
                  <a:srgbClr val="FFFFFF"/>
                </a:solidFill>
              </a:defRPr>
            </a:pPr>
            <a:r>
              <a:t>2. Smallholder Farmers (Khed &amp; Junnar)</a:t>
            </a:r>
          </a:p>
          <a:p>
            <a:pPr>
              <a:spcBef>
                <a:spcPts val="400"/>
              </a:spcBef>
              <a:defRPr sz="2200" b="1">
                <a:solidFill>
                  <a:srgbClr val="F59E0B"/>
                </a:solidFill>
              </a:defRPr>
            </a:pPr>
            <a:r>
              <a:t>12,000+ Farmers</a:t>
            </a:r>
          </a:p>
          <a:p>
            <a:pPr>
              <a:spcAft>
                <a:spcPts val="600"/>
              </a:spcAft>
              <a:defRPr sz="1000">
                <a:solidFill>
                  <a:srgbClr val="94A3B8"/>
                </a:solidFill>
              </a:defRPr>
            </a:pPr>
            <a:r>
              <a:t>Farmer Network</a:t>
            </a:r>
          </a:p>
          <a:p>
            <a:pPr>
              <a:spcBef>
                <a:spcPts val="300"/>
              </a:spcBef>
              <a:defRPr sz="1100">
                <a:solidFill>
                  <a:srgbClr val="E2E8F0"/>
                </a:solidFill>
              </a:defRPr>
            </a:pPr>
            <a:r>
              <a:t>• 12,000+ vegetable and onion growers</a:t>
            </a:r>
          </a:p>
          <a:p>
            <a:pPr>
              <a:spcBef>
                <a:spcPts val="300"/>
              </a:spcBef>
              <a:defRPr sz="1100">
                <a:solidFill>
                  <a:srgbClr val="E2E8F0"/>
                </a:solidFill>
              </a:defRPr>
            </a:pPr>
            <a:r>
              <a:t>• Need high-grade organic inputs at affordable prices with crop guidance</a:t>
            </a:r>
          </a:p>
        </p:txBody>
      </p:sp>
      <p:sp>
        <p:nvSpPr>
          <p:cNvPr id="9" name="Rounded Rectangle 8"/>
          <p:cNvSpPr/>
          <p:nvPr/>
        </p:nvSpPr>
        <p:spPr>
          <a:xfrm>
            <a:off x="731520" y="4023360"/>
            <a:ext cx="10698480" cy="2011680"/>
          </a:xfrm>
          <a:prstGeom prst="roundRect">
            <a:avLst/>
          </a:prstGeom>
          <a:solidFill>
            <a:srgbClr val="131D33"/>
          </a:solidFill>
          <a:ln w="12700">
            <a:solidFill>
              <a:srgbClr val="22314E"/>
            </a:solidFill>
          </a:ln>
        </p:spPr>
        <p:style>
          <a:lnRef idx="1">
            <a:schemeClr val="accent1"/>
          </a:lnRef>
          <a:fillRef idx="3">
            <a:schemeClr val="accent1"/>
          </a:fillRef>
          <a:effectRef idx="2">
            <a:schemeClr val="accent1"/>
          </a:effectRef>
          <a:fontRef idx="minor">
            <a:schemeClr val="lt1"/>
          </a:fontRef>
        </p:style>
        <p:txBody>
          <a:bodyPr rtlCol="0" anchor="ctr" wrap="square" lIns="228600" rIns="228600" tIns="201168" bIns="182880"/>
          <a:lstStyle/>
          <a:p>
            <a:pPr algn="ctr">
              <a:defRPr sz="1500" b="1">
                <a:solidFill>
                  <a:srgbClr val="FFFFFF"/>
                </a:solidFill>
              </a:defRPr>
            </a:pPr>
            <a:r>
              <a:t>Why Existing Solutions Fail</a:t>
            </a:r>
          </a:p>
          <a:p>
            <a:pPr>
              <a:spcBef>
                <a:spcPts val="400"/>
              </a:spcBef>
              <a:defRPr sz="2200" b="1">
                <a:solidFill>
                  <a:srgbClr val="F43F5E"/>
                </a:solidFill>
              </a:defRPr>
            </a:pPr>
            <a:r>
              <a:t>40%+ Contamination</a:t>
            </a:r>
          </a:p>
          <a:p>
            <a:pPr>
              <a:spcAft>
                <a:spcPts val="600"/>
              </a:spcAft>
              <a:defRPr sz="1000">
                <a:solidFill>
                  <a:srgbClr val="94A3B8"/>
                </a:solidFill>
              </a:defRPr>
            </a:pPr>
            <a:r>
              <a:t>The Failure of Status Quo</a:t>
            </a:r>
          </a:p>
          <a:p>
            <a:pPr>
              <a:spcBef>
                <a:spcPts val="300"/>
              </a:spcBef>
              <a:defRPr sz="1100">
                <a:solidFill>
                  <a:srgbClr val="E2E8F0"/>
                </a:solidFill>
              </a:defRPr>
            </a:pPr>
            <a:r>
              <a:t>• Centralized Municipal Plants: Suffer from 40%–50% plastic contamination; farmers refuse to buy the toxic output.</a:t>
            </a:r>
          </a:p>
          <a:p>
            <a:pPr>
              <a:spcBef>
                <a:spcPts val="300"/>
              </a:spcBef>
              <a:defRPr sz="1100">
                <a:solidFill>
                  <a:srgbClr val="E2E8F0"/>
                </a:solidFill>
              </a:defRPr>
            </a:pPr>
            <a:r>
              <a:t>• Home Composting Units: 85% abandoned within 60 days due to odor, fruit flies, and maggots.</a:t>
            </a:r>
          </a:p>
          <a:p>
            <a:pPr>
              <a:spcBef>
                <a:spcPts val="300"/>
              </a:spcBef>
              <a:defRPr sz="1100">
                <a:solidFill>
                  <a:srgbClr val="E2E8F0"/>
                </a:solidFill>
              </a:defRPr>
            </a:pPr>
            <a:r>
              <a:t>• AgroLoop Advantage: Doorstep digital quality verification (&lt;5% threshold) + high-value 4-stream conversion.</a:t>
            </a:r>
          </a:p>
        </p:txBody>
      </p:sp>
    </p:spTree>
  </p:cSld>
  <p:clrMapOvr>
    <a:masterClrMapping/>
  </p:clrMapOvr>
  <p:transition spd="med">
    <p:fade/>
  </p:transition>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112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7315200" cy="320040"/>
          </a:xfrm>
          <a:prstGeom prst="rect">
            <a:avLst/>
          </a:prstGeom>
          <a:noFill/>
        </p:spPr>
        <p:txBody>
          <a:bodyPr wrap="none">
            <a:spAutoFit/>
          </a:bodyPr>
          <a:lstStyle/>
          <a:p>
            <a:pPr>
              <a:defRPr sz="1100" b="1">
                <a:solidFill>
                  <a:srgbClr val="10B981"/>
                </a:solidFill>
              </a:defRPr>
            </a:pPr>
            <a:r>
              <a:t>SECTION 03 OF 06</a:t>
            </a:r>
          </a:p>
        </p:txBody>
      </p:sp>
      <p:sp>
        <p:nvSpPr>
          <p:cNvPr id="4" name="TextBox 3"/>
          <p:cNvSpPr txBox="1"/>
          <p:nvPr/>
        </p:nvSpPr>
        <p:spPr>
          <a:xfrm>
            <a:off x="731520" y="640080"/>
            <a:ext cx="8686800" cy="594360"/>
          </a:xfrm>
          <a:prstGeom prst="rect">
            <a:avLst/>
          </a:prstGeom>
          <a:noFill/>
        </p:spPr>
        <p:txBody>
          <a:bodyPr wrap="none">
            <a:spAutoFit/>
          </a:bodyPr>
          <a:lstStyle/>
          <a:p>
            <a:pPr>
              <a:defRPr sz="2400" b="1">
                <a:solidFill>
                  <a:srgbClr val="FFFFFF"/>
                </a:solidFill>
              </a:defRPr>
            </a:pPr>
            <a:r>
              <a:t>03. Proposed Solution: The 4-Stage Loop</a:t>
            </a:r>
          </a:p>
        </p:txBody>
      </p:sp>
      <p:sp>
        <p:nvSpPr>
          <p:cNvPr id="5" name="TextBox 4"/>
          <p:cNvSpPr txBox="1"/>
          <p:nvPr/>
        </p:nvSpPr>
        <p:spPr>
          <a:xfrm>
            <a:off x="731520" y="1234440"/>
            <a:ext cx="8686800" cy="365760"/>
          </a:xfrm>
          <a:prstGeom prst="rect">
            <a:avLst/>
          </a:prstGeom>
          <a:noFill/>
        </p:spPr>
        <p:txBody>
          <a:bodyPr wrap="none">
            <a:spAutoFit/>
          </a:bodyPr>
          <a:lstStyle/>
          <a:p>
            <a:pPr>
              <a:defRPr sz="1200">
                <a:solidFill>
                  <a:srgbClr val="94A3B8"/>
                </a:solidFill>
              </a:defRPr>
            </a:pPr>
            <a:r>
              <a:t>AgroLoop: Closed-loop hyper-local bio-refinery and soil advisory.</a:t>
            </a:r>
          </a:p>
        </p:txBody>
      </p:sp>
      <p:sp>
        <p:nvSpPr>
          <p:cNvPr id="6" name="Rounded Rectangle 5"/>
          <p:cNvSpPr/>
          <p:nvPr/>
        </p:nvSpPr>
        <p:spPr>
          <a:xfrm>
            <a:off x="9601200" y="502920"/>
            <a:ext cx="1828800" cy="502920"/>
          </a:xfrm>
          <a:prstGeom prst="roundRect">
            <a:avLst/>
          </a:prstGeom>
          <a:solidFill>
            <a:srgbClr val="131D33"/>
          </a:solidFill>
          <a:ln>
            <a:solidFill>
              <a:srgbClr val="22314E"/>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100" b="1">
                <a:solidFill>
                  <a:srgbClr val="F59E0B"/>
                </a:solidFill>
              </a:defRPr>
            </a:pPr>
            <a:r>
              <a:t>~35 Seconds</a:t>
            </a:r>
          </a:p>
        </p:txBody>
      </p:sp>
      <p:sp>
        <p:nvSpPr>
          <p:cNvPr id="7" name="Rounded Rectangle 6"/>
          <p:cNvSpPr/>
          <p:nvPr/>
        </p:nvSpPr>
        <p:spPr>
          <a:xfrm>
            <a:off x="731520" y="1828800"/>
            <a:ext cx="2468880" cy="4114800"/>
          </a:xfrm>
          <a:prstGeom prst="roundRect">
            <a:avLst/>
          </a:prstGeom>
          <a:solidFill>
            <a:srgbClr val="131D33"/>
          </a:solidFill>
          <a:ln w="12700">
            <a:solidFill>
              <a:srgbClr val="22314E"/>
            </a:solidFill>
          </a:ln>
        </p:spPr>
        <p:style>
          <a:lnRef idx="1">
            <a:schemeClr val="accent1"/>
          </a:lnRef>
          <a:fillRef idx="3">
            <a:schemeClr val="accent1"/>
          </a:fillRef>
          <a:effectRef idx="2">
            <a:schemeClr val="accent1"/>
          </a:effectRef>
          <a:fontRef idx="minor">
            <a:schemeClr val="lt1"/>
          </a:fontRef>
        </p:style>
        <p:txBody>
          <a:bodyPr rtlCol="0" anchor="ctr" wrap="square" lIns="228600" rIns="228600" tIns="201168" bIns="182880"/>
          <a:lstStyle/>
          <a:p>
            <a:pPr algn="ctr">
              <a:defRPr sz="1500" b="1">
                <a:solidFill>
                  <a:srgbClr val="FFFFFF"/>
                </a:solidFill>
              </a:defRPr>
            </a:pPr>
            <a:r>
              <a:t>01. COLLECT</a:t>
            </a:r>
          </a:p>
          <a:p>
            <a:pPr>
              <a:spcBef>
                <a:spcPts val="400"/>
              </a:spcBef>
              <a:defRPr sz="2200" b="1">
                <a:solidFill>
                  <a:srgbClr val="10B981"/>
                </a:solidFill>
              </a:defRPr>
            </a:pPr>
            <a:r>
              <a:t>EV Fleet</a:t>
            </a:r>
          </a:p>
          <a:p>
            <a:pPr>
              <a:spcAft>
                <a:spcPts val="600"/>
              </a:spcAft>
              <a:defRPr sz="1000">
                <a:solidFill>
                  <a:srgbClr val="94A3B8"/>
                </a:solidFill>
              </a:defRPr>
            </a:pPr>
            <a:r>
              <a:t>Doorstep QC</a:t>
            </a:r>
          </a:p>
          <a:p>
            <a:pPr>
              <a:spcBef>
                <a:spcPts val="300"/>
              </a:spcBef>
              <a:defRPr sz="1100">
                <a:solidFill>
                  <a:srgbClr val="E2E8F0"/>
                </a:solidFill>
              </a:defRPr>
            </a:pPr>
            <a:r>
              <a:t>• Daily scheduled pickups</a:t>
            </a:r>
          </a:p>
          <a:p>
            <a:pPr>
              <a:spcBef>
                <a:spcPts val="300"/>
              </a:spcBef>
              <a:defRPr sz="1100">
                <a:solidFill>
                  <a:srgbClr val="E2E8F0"/>
                </a:solidFill>
              </a:defRPr>
            </a:pPr>
            <a:r>
              <a:t>• EV loaders with Bluetooth scales</a:t>
            </a:r>
          </a:p>
          <a:p>
            <a:pPr>
              <a:spcBef>
                <a:spcPts val="300"/>
              </a:spcBef>
              <a:defRPr sz="1100">
                <a:solidFill>
                  <a:srgbClr val="E2E8F0"/>
                </a:solidFill>
              </a:defRPr>
            </a:pPr>
            <a:r>
              <a:t>• Doorstep contamination QC (&lt;5%)</a:t>
            </a:r>
          </a:p>
          <a:p>
            <a:pPr>
              <a:spcBef>
                <a:spcPts val="300"/>
              </a:spcBef>
              <a:defRPr sz="1100">
                <a:solidFill>
                  <a:srgbClr val="E2E8F0"/>
                </a:solidFill>
              </a:defRPr>
            </a:pPr>
            <a:r>
              <a:t>• Green reward incentives</a:t>
            </a:r>
          </a:p>
        </p:txBody>
      </p:sp>
      <p:sp>
        <p:nvSpPr>
          <p:cNvPr id="8" name="Rounded Rectangle 7"/>
          <p:cNvSpPr/>
          <p:nvPr/>
        </p:nvSpPr>
        <p:spPr>
          <a:xfrm>
            <a:off x="3383280" y="1828800"/>
            <a:ext cx="2468880" cy="4114800"/>
          </a:xfrm>
          <a:prstGeom prst="roundRect">
            <a:avLst/>
          </a:prstGeom>
          <a:solidFill>
            <a:srgbClr val="131D33"/>
          </a:solidFill>
          <a:ln w="12700">
            <a:solidFill>
              <a:srgbClr val="22314E"/>
            </a:solidFill>
          </a:ln>
        </p:spPr>
        <p:style>
          <a:lnRef idx="1">
            <a:schemeClr val="accent1"/>
          </a:lnRef>
          <a:fillRef idx="3">
            <a:schemeClr val="accent1"/>
          </a:fillRef>
          <a:effectRef idx="2">
            <a:schemeClr val="accent1"/>
          </a:effectRef>
          <a:fontRef idx="minor">
            <a:schemeClr val="lt1"/>
          </a:fontRef>
        </p:style>
        <p:txBody>
          <a:bodyPr rtlCol="0" anchor="ctr" wrap="square" lIns="228600" rIns="228600" tIns="201168" bIns="182880"/>
          <a:lstStyle/>
          <a:p>
            <a:pPr algn="ctr">
              <a:defRPr sz="1500" b="1">
                <a:solidFill>
                  <a:srgbClr val="FFFFFF"/>
                </a:solidFill>
              </a:defRPr>
            </a:pPr>
            <a:r>
              <a:t>02. PROCESS</a:t>
            </a:r>
          </a:p>
          <a:p>
            <a:pPr>
              <a:spcBef>
                <a:spcPts val="400"/>
              </a:spcBef>
              <a:defRPr sz="2200" b="1">
                <a:solidFill>
                  <a:srgbClr val="38BDF8"/>
                </a:solidFill>
              </a:defRPr>
            </a:pPr>
            <a:r>
              <a:t>Bhosari Hub</a:t>
            </a:r>
          </a:p>
          <a:p>
            <a:pPr>
              <a:spcAft>
                <a:spcPts val="600"/>
              </a:spcAft>
              <a:defRPr sz="1000">
                <a:solidFill>
                  <a:srgbClr val="94A3B8"/>
                </a:solidFill>
              </a:defRPr>
            </a:pPr>
            <a:r>
              <a:t>4 Bio-Inputs</a:t>
            </a:r>
          </a:p>
          <a:p>
            <a:pPr>
              <a:spcBef>
                <a:spcPts val="300"/>
              </a:spcBef>
              <a:defRPr sz="1100">
                <a:solidFill>
                  <a:srgbClr val="E2E8F0"/>
                </a:solidFill>
              </a:defRPr>
            </a:pPr>
            <a:r>
              <a:t>• Bhosari Central Hub</a:t>
            </a:r>
          </a:p>
          <a:p>
            <a:pPr>
              <a:spcBef>
                <a:spcPts val="300"/>
              </a:spcBef>
              <a:defRPr sz="1100">
                <a:solidFill>
                  <a:srgbClr val="E2E8F0"/>
                </a:solidFill>
              </a:defRPr>
            </a:pPr>
            <a:r>
              <a:t>• 4 Targeted Streams:</a:t>
            </a:r>
            <a:br/>
            <a:r>
              <a:t>  • Vermicompost (₹10)</a:t>
            </a:r>
            <a:br/>
            <a:r>
              <a:t>  • 550°C Biochar (₹24)</a:t>
            </a:r>
            <a:br/>
            <a:r>
              <a:t>  • Liquid Foliar (₹32)</a:t>
            </a:r>
            <a:br/>
            <a:r>
              <a:t>  • Bokashi Bran (₹45)</a:t>
            </a:r>
          </a:p>
        </p:txBody>
      </p:sp>
      <p:sp>
        <p:nvSpPr>
          <p:cNvPr id="9" name="Rounded Rectangle 8"/>
          <p:cNvSpPr/>
          <p:nvPr/>
        </p:nvSpPr>
        <p:spPr>
          <a:xfrm>
            <a:off x="6035040" y="1828800"/>
            <a:ext cx="2468880" cy="4114800"/>
          </a:xfrm>
          <a:prstGeom prst="roundRect">
            <a:avLst/>
          </a:prstGeom>
          <a:solidFill>
            <a:srgbClr val="131D33"/>
          </a:solidFill>
          <a:ln w="12700">
            <a:solidFill>
              <a:srgbClr val="22314E"/>
            </a:solidFill>
          </a:ln>
        </p:spPr>
        <p:style>
          <a:lnRef idx="1">
            <a:schemeClr val="accent1"/>
          </a:lnRef>
          <a:fillRef idx="3">
            <a:schemeClr val="accent1"/>
          </a:fillRef>
          <a:effectRef idx="2">
            <a:schemeClr val="accent1"/>
          </a:effectRef>
          <a:fontRef idx="minor">
            <a:schemeClr val="lt1"/>
          </a:fontRef>
        </p:style>
        <p:txBody>
          <a:bodyPr rtlCol="0" anchor="ctr" wrap="square" lIns="228600" rIns="228600" tIns="201168" bIns="182880"/>
          <a:lstStyle/>
          <a:p>
            <a:pPr algn="ctr">
              <a:defRPr sz="1500" b="1">
                <a:solidFill>
                  <a:srgbClr val="FFFFFF"/>
                </a:solidFill>
              </a:defRPr>
            </a:pPr>
            <a:r>
              <a:t>03. DISTRIBUTE</a:t>
            </a:r>
          </a:p>
          <a:p>
            <a:pPr>
              <a:spcBef>
                <a:spcPts val="400"/>
              </a:spcBef>
              <a:defRPr sz="2200" b="1">
                <a:solidFill>
                  <a:srgbClr val="F59E0B"/>
                </a:solidFill>
              </a:defRPr>
            </a:pPr>
            <a:r>
              <a:t>Zero Middlemen</a:t>
            </a:r>
          </a:p>
          <a:p>
            <a:pPr>
              <a:spcAft>
                <a:spcPts val="600"/>
              </a:spcAft>
              <a:defRPr sz="1000">
                <a:solidFill>
                  <a:srgbClr val="94A3B8"/>
                </a:solidFill>
              </a:defRPr>
            </a:pPr>
            <a:r>
              <a:t>Direct to Farm</a:t>
            </a:r>
          </a:p>
          <a:p>
            <a:pPr>
              <a:spcBef>
                <a:spcPts val="300"/>
              </a:spcBef>
              <a:defRPr sz="1100">
                <a:solidFill>
                  <a:srgbClr val="E2E8F0"/>
                </a:solidFill>
              </a:defRPr>
            </a:pPr>
            <a:r>
              <a:t>• Direct farmer marketplace</a:t>
            </a:r>
          </a:p>
          <a:p>
            <a:pPr>
              <a:spcBef>
                <a:spcPts val="300"/>
              </a:spcBef>
              <a:defRPr sz="1100">
                <a:solidFill>
                  <a:srgbClr val="E2E8F0"/>
                </a:solidFill>
              </a:defRPr>
            </a:pPr>
            <a:r>
              <a:t>• Fair demo pricing</a:t>
            </a:r>
          </a:p>
          <a:p>
            <a:pPr>
              <a:spcBef>
                <a:spcPts val="300"/>
              </a:spcBef>
              <a:defRPr sz="1100">
                <a:solidFill>
                  <a:srgbClr val="E2E8F0"/>
                </a:solidFill>
              </a:defRPr>
            </a:pPr>
            <a:r>
              <a:t>• Doorstep farm cluster delivery</a:t>
            </a:r>
          </a:p>
          <a:p>
            <a:pPr>
              <a:spcBef>
                <a:spcPts val="300"/>
              </a:spcBef>
              <a:defRPr sz="1100">
                <a:solidFill>
                  <a:srgbClr val="E2E8F0"/>
                </a:solidFill>
              </a:defRPr>
            </a:pPr>
            <a:r>
              <a:t>• Real-time inventory sync</a:t>
            </a:r>
          </a:p>
        </p:txBody>
      </p:sp>
      <p:sp>
        <p:nvSpPr>
          <p:cNvPr id="10" name="Rounded Rectangle 9"/>
          <p:cNvSpPr/>
          <p:nvPr/>
        </p:nvSpPr>
        <p:spPr>
          <a:xfrm>
            <a:off x="8686800" y="1828800"/>
            <a:ext cx="2468880" cy="4114800"/>
          </a:xfrm>
          <a:prstGeom prst="roundRect">
            <a:avLst/>
          </a:prstGeom>
          <a:solidFill>
            <a:srgbClr val="131D33"/>
          </a:solidFill>
          <a:ln w="12700">
            <a:solidFill>
              <a:srgbClr val="22314E"/>
            </a:solidFill>
          </a:ln>
        </p:spPr>
        <p:style>
          <a:lnRef idx="1">
            <a:schemeClr val="accent1"/>
          </a:lnRef>
          <a:fillRef idx="3">
            <a:schemeClr val="accent1"/>
          </a:fillRef>
          <a:effectRef idx="2">
            <a:schemeClr val="accent1"/>
          </a:effectRef>
          <a:fontRef idx="minor">
            <a:schemeClr val="lt1"/>
          </a:fontRef>
        </p:style>
        <p:txBody>
          <a:bodyPr rtlCol="0" anchor="ctr" wrap="square" lIns="228600" rIns="228600" tIns="201168" bIns="182880"/>
          <a:lstStyle/>
          <a:p>
            <a:pPr algn="ctr">
              <a:defRPr sz="1500" b="1">
                <a:solidFill>
                  <a:srgbClr val="FFFFFF"/>
                </a:solidFill>
              </a:defRPr>
            </a:pPr>
            <a:r>
              <a:t>04. ADVISE</a:t>
            </a:r>
          </a:p>
          <a:p>
            <a:pPr>
              <a:spcBef>
                <a:spcPts val="400"/>
              </a:spcBef>
              <a:defRPr sz="2200" b="1">
                <a:solidFill>
                  <a:srgbClr val="10B981"/>
                </a:solidFill>
              </a:defRPr>
            </a:pPr>
            <a:r>
              <a:t>Precision NPK</a:t>
            </a:r>
          </a:p>
          <a:p>
            <a:pPr>
              <a:spcAft>
                <a:spcPts val="600"/>
              </a:spcAft>
              <a:defRPr sz="1000">
                <a:solidFill>
                  <a:srgbClr val="94A3B8"/>
                </a:solidFill>
              </a:defRPr>
            </a:pPr>
            <a:r>
              <a:t>AI Advisor</a:t>
            </a:r>
          </a:p>
          <a:p>
            <a:pPr>
              <a:spcBef>
                <a:spcPts val="300"/>
              </a:spcBef>
              <a:defRPr sz="1100">
                <a:solidFill>
                  <a:srgbClr val="E2E8F0"/>
                </a:solidFill>
              </a:defRPr>
            </a:pPr>
            <a:r>
              <a:t>• Google Gemini 1.5 Pro AI</a:t>
            </a:r>
          </a:p>
          <a:p>
            <a:pPr>
              <a:spcBef>
                <a:spcPts val="300"/>
              </a:spcBef>
              <a:defRPr sz="1100">
                <a:solidFill>
                  <a:srgbClr val="E2E8F0"/>
                </a:solidFill>
              </a:defRPr>
            </a:pPr>
            <a:r>
              <a:t>• Deterministic agronomy rules</a:t>
            </a:r>
          </a:p>
          <a:p>
            <a:pPr>
              <a:spcBef>
                <a:spcPts val="300"/>
              </a:spcBef>
              <a:defRPr sz="1100">
                <a:solidFill>
                  <a:srgbClr val="E2E8F0"/>
                </a:solidFill>
              </a:defRPr>
            </a:pPr>
            <a:r>
              <a:t>• Soil pH &amp; crop stage matching</a:t>
            </a:r>
          </a:p>
          <a:p>
            <a:pPr>
              <a:spcBef>
                <a:spcPts val="300"/>
              </a:spcBef>
              <a:defRPr sz="1100">
                <a:solidFill>
                  <a:srgbClr val="E2E8F0"/>
                </a:solidFill>
              </a:defRPr>
            </a:pPr>
            <a:r>
              <a:t>• Marathi &amp; English guidance</a:t>
            </a:r>
          </a:p>
        </p:txBody>
      </p:sp>
    </p:spTree>
  </p:cSld>
  <p:clrMapOvr>
    <a:masterClrMapping/>
  </p:clrMapOvr>
  <p:transition spd="med">
    <p:fade/>
  </p:transition>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112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7315200" cy="320040"/>
          </a:xfrm>
          <a:prstGeom prst="rect">
            <a:avLst/>
          </a:prstGeom>
          <a:noFill/>
        </p:spPr>
        <p:txBody>
          <a:bodyPr wrap="none">
            <a:spAutoFit/>
          </a:bodyPr>
          <a:lstStyle/>
          <a:p>
            <a:pPr>
              <a:defRPr sz="1100" b="1">
                <a:solidFill>
                  <a:srgbClr val="10B981"/>
                </a:solidFill>
              </a:defRPr>
            </a:pPr>
            <a:r>
              <a:t>SECTION 04 OF 06</a:t>
            </a:r>
          </a:p>
        </p:txBody>
      </p:sp>
      <p:sp>
        <p:nvSpPr>
          <p:cNvPr id="4" name="TextBox 3"/>
          <p:cNvSpPr txBox="1"/>
          <p:nvPr/>
        </p:nvSpPr>
        <p:spPr>
          <a:xfrm>
            <a:off x="731520" y="640080"/>
            <a:ext cx="8686800" cy="594360"/>
          </a:xfrm>
          <a:prstGeom prst="rect">
            <a:avLst/>
          </a:prstGeom>
          <a:noFill/>
        </p:spPr>
        <p:txBody>
          <a:bodyPr wrap="none">
            <a:spAutoFit/>
          </a:bodyPr>
          <a:lstStyle/>
          <a:p>
            <a:pPr>
              <a:defRPr sz="2400" b="1">
                <a:solidFill>
                  <a:srgbClr val="FFFFFF"/>
                </a:solidFill>
              </a:defRPr>
            </a:pPr>
            <a:r>
              <a:t>04. Technology &amp; Implementation</a:t>
            </a:r>
          </a:p>
        </p:txBody>
      </p:sp>
      <p:sp>
        <p:nvSpPr>
          <p:cNvPr id="5" name="TextBox 4"/>
          <p:cNvSpPr txBox="1"/>
          <p:nvPr/>
        </p:nvSpPr>
        <p:spPr>
          <a:xfrm>
            <a:off x="731520" y="1234440"/>
            <a:ext cx="8686800" cy="365760"/>
          </a:xfrm>
          <a:prstGeom prst="rect">
            <a:avLst/>
          </a:prstGeom>
          <a:noFill/>
        </p:spPr>
        <p:txBody>
          <a:bodyPr wrap="none">
            <a:spAutoFit/>
          </a:bodyPr>
          <a:lstStyle/>
          <a:p>
            <a:pPr>
              <a:defRPr sz="1200">
                <a:solidFill>
                  <a:srgbClr val="94A3B8"/>
                </a:solidFill>
              </a:defRPr>
            </a:pPr>
            <a:r>
              <a:t>Production-ready full-stack architecture, telematics, and AI engine.</a:t>
            </a:r>
          </a:p>
        </p:txBody>
      </p:sp>
      <p:sp>
        <p:nvSpPr>
          <p:cNvPr id="6" name="Rounded Rectangle 5"/>
          <p:cNvSpPr/>
          <p:nvPr/>
        </p:nvSpPr>
        <p:spPr>
          <a:xfrm>
            <a:off x="9601200" y="502920"/>
            <a:ext cx="1828800" cy="502920"/>
          </a:xfrm>
          <a:prstGeom prst="roundRect">
            <a:avLst/>
          </a:prstGeom>
          <a:solidFill>
            <a:srgbClr val="131D33"/>
          </a:solidFill>
          <a:ln>
            <a:solidFill>
              <a:srgbClr val="22314E"/>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100" b="1">
                <a:solidFill>
                  <a:srgbClr val="F59E0B"/>
                </a:solidFill>
              </a:defRPr>
            </a:pPr>
            <a:r>
              <a:t>~40 Seconds</a:t>
            </a:r>
          </a:p>
        </p:txBody>
      </p:sp>
      <p:sp>
        <p:nvSpPr>
          <p:cNvPr id="7" name="Rounded Rectangle 6"/>
          <p:cNvSpPr/>
          <p:nvPr/>
        </p:nvSpPr>
        <p:spPr>
          <a:xfrm>
            <a:off x="731520" y="1828800"/>
            <a:ext cx="3383280" cy="4114800"/>
          </a:xfrm>
          <a:prstGeom prst="roundRect">
            <a:avLst/>
          </a:prstGeom>
          <a:solidFill>
            <a:srgbClr val="131D33"/>
          </a:solidFill>
          <a:ln w="12700">
            <a:solidFill>
              <a:srgbClr val="22314E"/>
            </a:solidFill>
          </a:ln>
        </p:spPr>
        <p:style>
          <a:lnRef idx="1">
            <a:schemeClr val="accent1"/>
          </a:lnRef>
          <a:fillRef idx="3">
            <a:schemeClr val="accent1"/>
          </a:fillRef>
          <a:effectRef idx="2">
            <a:schemeClr val="accent1"/>
          </a:effectRef>
          <a:fontRef idx="minor">
            <a:schemeClr val="lt1"/>
          </a:fontRef>
        </p:style>
        <p:txBody>
          <a:bodyPr rtlCol="0" anchor="ctr" wrap="square" lIns="228600" rIns="228600" tIns="201168" bIns="182880"/>
          <a:lstStyle/>
          <a:p>
            <a:pPr algn="ctr">
              <a:defRPr sz="1500" b="1">
                <a:solidFill>
                  <a:srgbClr val="FFFFFF"/>
                </a:solidFill>
              </a:defRPr>
            </a:pPr>
            <a:r>
              <a:t>Full-Stack Architecture</a:t>
            </a:r>
          </a:p>
          <a:p>
            <a:pPr>
              <a:spcBef>
                <a:spcPts val="400"/>
              </a:spcBef>
              <a:defRPr sz="2200" b="1">
                <a:solidFill>
                  <a:srgbClr val="38BDF8"/>
                </a:solidFill>
              </a:defRPr>
            </a:pPr>
            <a:r>
              <a:t>Next.js 15</a:t>
            </a:r>
          </a:p>
          <a:p>
            <a:pPr>
              <a:spcAft>
                <a:spcPts val="600"/>
              </a:spcAft>
              <a:defRPr sz="1000">
                <a:solidFill>
                  <a:srgbClr val="94A3B8"/>
                </a:solidFill>
              </a:defRPr>
            </a:pPr>
            <a:r>
              <a:t>Production Core</a:t>
            </a:r>
          </a:p>
          <a:p>
            <a:pPr>
              <a:spcBef>
                <a:spcPts val="300"/>
              </a:spcBef>
              <a:defRPr sz="1100">
                <a:solidFill>
                  <a:srgbClr val="E2E8F0"/>
                </a:solidFill>
              </a:defRPr>
            </a:pPr>
            <a:r>
              <a:t>• Next.js 15 App Router + TypeScript</a:t>
            </a:r>
          </a:p>
          <a:p>
            <a:pPr>
              <a:spcBef>
                <a:spcPts val="300"/>
              </a:spcBef>
              <a:defRPr sz="1100">
                <a:solidFill>
                  <a:srgbClr val="E2E8F0"/>
                </a:solidFill>
              </a:defRPr>
            </a:pPr>
            <a:r>
              <a:t>• Tailwind CSS clean modern design system</a:t>
            </a:r>
          </a:p>
          <a:p>
            <a:pPr>
              <a:spcBef>
                <a:spcPts val="300"/>
              </a:spcBef>
              <a:defRPr sz="1100">
                <a:solidFill>
                  <a:srgbClr val="E2E8F0"/>
                </a:solidFill>
              </a:defRPr>
            </a:pPr>
            <a:r>
              <a:t>• Supabase PostgreSQL with strict RLS policies</a:t>
            </a:r>
          </a:p>
          <a:p>
            <a:pPr>
              <a:spcBef>
                <a:spcPts val="300"/>
              </a:spcBef>
              <a:defRPr sz="1100">
                <a:solidFill>
                  <a:srgbClr val="E2E8F0"/>
                </a:solidFill>
              </a:defRPr>
            </a:pPr>
            <a:r>
              <a:t>• Zero-latency local store demo fallback</a:t>
            </a:r>
          </a:p>
          <a:p>
            <a:pPr>
              <a:spcBef>
                <a:spcPts val="300"/>
              </a:spcBef>
              <a:defRPr sz="1100">
                <a:solidFill>
                  <a:srgbClr val="E2E8F0"/>
                </a:solidFill>
              </a:defRPr>
            </a:pPr>
            <a:r>
              <a:t>• Offline PWA mobile compatibility</a:t>
            </a:r>
          </a:p>
        </p:txBody>
      </p:sp>
      <p:sp>
        <p:nvSpPr>
          <p:cNvPr id="8" name="Rounded Rectangle 7"/>
          <p:cNvSpPr/>
          <p:nvPr/>
        </p:nvSpPr>
        <p:spPr>
          <a:xfrm>
            <a:off x="4389120" y="1828800"/>
            <a:ext cx="3383280" cy="4114800"/>
          </a:xfrm>
          <a:prstGeom prst="roundRect">
            <a:avLst/>
          </a:prstGeom>
          <a:solidFill>
            <a:srgbClr val="131D33"/>
          </a:solidFill>
          <a:ln w="12700">
            <a:solidFill>
              <a:srgbClr val="22314E"/>
            </a:solidFill>
          </a:ln>
        </p:spPr>
        <p:style>
          <a:lnRef idx="1">
            <a:schemeClr val="accent1"/>
          </a:lnRef>
          <a:fillRef idx="3">
            <a:schemeClr val="accent1"/>
          </a:fillRef>
          <a:effectRef idx="2">
            <a:schemeClr val="accent1"/>
          </a:effectRef>
          <a:fontRef idx="minor">
            <a:schemeClr val="lt1"/>
          </a:fontRef>
        </p:style>
        <p:txBody>
          <a:bodyPr rtlCol="0" anchor="ctr" wrap="square" lIns="228600" rIns="228600" tIns="201168" bIns="182880"/>
          <a:lstStyle/>
          <a:p>
            <a:pPr algn="ctr">
              <a:defRPr sz="1500" b="1">
                <a:solidFill>
                  <a:srgbClr val="FFFFFF"/>
                </a:solidFill>
              </a:defRPr>
            </a:pPr>
            <a:r>
              <a:t>Gemini AI Agronomist</a:t>
            </a:r>
          </a:p>
          <a:p>
            <a:pPr>
              <a:spcBef>
                <a:spcPts val="400"/>
              </a:spcBef>
              <a:defRPr sz="2200" b="1">
                <a:solidFill>
                  <a:srgbClr val="10B981"/>
                </a:solidFill>
              </a:defRPr>
            </a:pPr>
            <a:r>
              <a:t>Gemini 1.5</a:t>
            </a:r>
          </a:p>
          <a:p>
            <a:pPr>
              <a:spcAft>
                <a:spcPts val="600"/>
              </a:spcAft>
              <a:defRPr sz="1000">
                <a:solidFill>
                  <a:srgbClr val="94A3B8"/>
                </a:solidFill>
              </a:defRPr>
            </a:pPr>
            <a:r>
              <a:t>Guarded AI</a:t>
            </a:r>
          </a:p>
          <a:p>
            <a:pPr>
              <a:spcBef>
                <a:spcPts val="300"/>
              </a:spcBef>
              <a:defRPr sz="1100">
                <a:solidFill>
                  <a:srgbClr val="E2E8F0"/>
                </a:solidFill>
              </a:defRPr>
            </a:pPr>
            <a:r>
              <a:t>• Google Gemini 1.5 Pro integration</a:t>
            </a:r>
          </a:p>
          <a:p>
            <a:pPr>
              <a:spcBef>
                <a:spcPts val="300"/>
              </a:spcBef>
              <a:defRPr sz="1100">
                <a:solidFill>
                  <a:srgbClr val="E2E8F0"/>
                </a:solidFill>
              </a:defRPr>
            </a:pPr>
            <a:r>
              <a:t>• Deterministic agronomy rule engine fallback</a:t>
            </a:r>
          </a:p>
          <a:p>
            <a:pPr>
              <a:spcBef>
                <a:spcPts val="300"/>
              </a:spcBef>
              <a:defRPr sz="1100">
                <a:solidFill>
                  <a:srgbClr val="E2E8F0"/>
                </a:solidFill>
              </a:defRPr>
            </a:pPr>
            <a:r>
              <a:t>• Enforces ICAR NPK safety thresholds</a:t>
            </a:r>
          </a:p>
          <a:p>
            <a:pPr>
              <a:spcBef>
                <a:spcPts val="300"/>
              </a:spcBef>
              <a:defRPr sz="1100">
                <a:solidFill>
                  <a:srgbClr val="E2E8F0"/>
                </a:solidFill>
              </a:defRPr>
            </a:pPr>
            <a:r>
              <a:t>• Eliminates AI hallucinations on crop advice</a:t>
            </a:r>
          </a:p>
          <a:p>
            <a:pPr>
              <a:spcBef>
                <a:spcPts val="300"/>
              </a:spcBef>
              <a:defRPr sz="1100">
                <a:solidFill>
                  <a:srgbClr val="E2E8F0"/>
                </a:solidFill>
              </a:defRPr>
            </a:pPr>
            <a:r>
              <a:t>• Soil pH and crop deficit balancing</a:t>
            </a:r>
          </a:p>
        </p:txBody>
      </p:sp>
      <p:sp>
        <p:nvSpPr>
          <p:cNvPr id="9" name="Rounded Rectangle 8"/>
          <p:cNvSpPr/>
          <p:nvPr/>
        </p:nvSpPr>
        <p:spPr>
          <a:xfrm>
            <a:off x="8046720" y="1828800"/>
            <a:ext cx="3383280" cy="4114800"/>
          </a:xfrm>
          <a:prstGeom prst="roundRect">
            <a:avLst/>
          </a:prstGeom>
          <a:solidFill>
            <a:srgbClr val="131D33"/>
          </a:solidFill>
          <a:ln w="12700">
            <a:solidFill>
              <a:srgbClr val="22314E"/>
            </a:solidFill>
          </a:ln>
        </p:spPr>
        <p:style>
          <a:lnRef idx="1">
            <a:schemeClr val="accent1"/>
          </a:lnRef>
          <a:fillRef idx="3">
            <a:schemeClr val="accent1"/>
          </a:fillRef>
          <a:effectRef idx="2">
            <a:schemeClr val="accent1"/>
          </a:effectRef>
          <a:fontRef idx="minor">
            <a:schemeClr val="lt1"/>
          </a:fontRef>
        </p:style>
        <p:txBody>
          <a:bodyPr rtlCol="0" anchor="ctr" wrap="square" lIns="228600" rIns="228600" tIns="201168" bIns="182880"/>
          <a:lstStyle/>
          <a:p>
            <a:pPr algn="ctr">
              <a:defRPr sz="1500" b="1">
                <a:solidFill>
                  <a:srgbClr val="FFFFFF"/>
                </a:solidFill>
              </a:defRPr>
            </a:pPr>
            <a:r>
              <a:t>Geospatial Telematics</a:t>
            </a:r>
          </a:p>
          <a:p>
            <a:pPr>
              <a:spcBef>
                <a:spcPts val="400"/>
              </a:spcBef>
              <a:defRPr sz="2200" b="1">
                <a:solidFill>
                  <a:srgbClr val="F59E0B"/>
                </a:solidFill>
              </a:defRPr>
            </a:pPr>
            <a:r>
              <a:t>MapLibre GL</a:t>
            </a:r>
          </a:p>
          <a:p>
            <a:pPr>
              <a:spcAft>
                <a:spcPts val="600"/>
              </a:spcAft>
              <a:defRPr sz="1000">
                <a:solidFill>
                  <a:srgbClr val="94A3B8"/>
                </a:solidFill>
              </a:defRPr>
            </a:pPr>
            <a:r>
              <a:t>Live Routing</a:t>
            </a:r>
          </a:p>
          <a:p>
            <a:pPr>
              <a:spcBef>
                <a:spcPts val="300"/>
              </a:spcBef>
              <a:defRPr sz="1100">
                <a:solidFill>
                  <a:srgbClr val="E2E8F0"/>
                </a:solidFill>
              </a:defRPr>
            </a:pPr>
            <a:r>
              <a:t>• MapLibre GL live Pune ecosystem map</a:t>
            </a:r>
          </a:p>
          <a:p>
            <a:pPr>
              <a:spcBef>
                <a:spcPts val="300"/>
              </a:spcBef>
              <a:defRPr sz="1100">
                <a:solidFill>
                  <a:srgbClr val="E2E8F0"/>
                </a:solidFill>
              </a:defRPr>
            </a:pPr>
            <a:r>
              <a:t>• Optimized EV collection routes in Kothrud</a:t>
            </a:r>
          </a:p>
          <a:p>
            <a:pPr>
              <a:spcBef>
                <a:spcPts val="300"/>
              </a:spcBef>
              <a:defRPr sz="1100">
                <a:solidFill>
                  <a:srgbClr val="E2E8F0"/>
                </a:solidFill>
              </a:defRPr>
            </a:pPr>
            <a:r>
              <a:t>• Central hub routing in Bhosari Industrial Belt</a:t>
            </a:r>
          </a:p>
          <a:p>
            <a:pPr>
              <a:spcBef>
                <a:spcPts val="300"/>
              </a:spcBef>
              <a:defRPr sz="1100">
                <a:solidFill>
                  <a:srgbClr val="E2E8F0"/>
                </a:solidFill>
              </a:defRPr>
            </a:pPr>
            <a:r>
              <a:t>• Direct delivery tracking to Khed &amp; Junnar</a:t>
            </a:r>
          </a:p>
          <a:p>
            <a:pPr>
              <a:spcBef>
                <a:spcPts val="300"/>
              </a:spcBef>
              <a:defRPr sz="1100">
                <a:solidFill>
                  <a:srgbClr val="E2E8F0"/>
                </a:solidFill>
              </a:defRPr>
            </a:pPr>
            <a:r>
              <a:t>• Batch maturation state machine</a:t>
            </a:r>
          </a:p>
        </p:txBody>
      </p:sp>
    </p:spTree>
  </p:cSld>
  <p:clrMapOvr>
    <a:masterClrMapping/>
  </p:clrMapOvr>
  <p:transition spd="med">
    <p:fade/>
  </p:transition>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112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7315200" cy="320040"/>
          </a:xfrm>
          <a:prstGeom prst="rect">
            <a:avLst/>
          </a:prstGeom>
          <a:noFill/>
        </p:spPr>
        <p:txBody>
          <a:bodyPr wrap="none">
            <a:spAutoFit/>
          </a:bodyPr>
          <a:lstStyle/>
          <a:p>
            <a:pPr>
              <a:defRPr sz="1100" b="1">
                <a:solidFill>
                  <a:srgbClr val="10B981"/>
                </a:solidFill>
              </a:defRPr>
            </a:pPr>
            <a:r>
              <a:t>SECTION 05 OF 06</a:t>
            </a:r>
          </a:p>
        </p:txBody>
      </p:sp>
      <p:sp>
        <p:nvSpPr>
          <p:cNvPr id="4" name="TextBox 3"/>
          <p:cNvSpPr txBox="1"/>
          <p:nvPr/>
        </p:nvSpPr>
        <p:spPr>
          <a:xfrm>
            <a:off x="731520" y="640080"/>
            <a:ext cx="8686800" cy="594360"/>
          </a:xfrm>
          <a:prstGeom prst="rect">
            <a:avLst/>
          </a:prstGeom>
          <a:noFill/>
        </p:spPr>
        <p:txBody>
          <a:bodyPr wrap="none">
            <a:spAutoFit/>
          </a:bodyPr>
          <a:lstStyle/>
          <a:p>
            <a:pPr>
              <a:defRPr sz="2400" b="1">
                <a:solidFill>
                  <a:srgbClr val="FFFFFF"/>
                </a:solidFill>
              </a:defRPr>
            </a:pPr>
            <a:r>
              <a:t>05. Innovation &amp; Measurable Impact</a:t>
            </a:r>
          </a:p>
        </p:txBody>
      </p:sp>
      <p:sp>
        <p:nvSpPr>
          <p:cNvPr id="5" name="TextBox 4"/>
          <p:cNvSpPr txBox="1"/>
          <p:nvPr/>
        </p:nvSpPr>
        <p:spPr>
          <a:xfrm>
            <a:off x="731520" y="1234440"/>
            <a:ext cx="8686800" cy="365760"/>
          </a:xfrm>
          <a:prstGeom prst="rect">
            <a:avLst/>
          </a:prstGeom>
          <a:noFill/>
        </p:spPr>
        <p:txBody>
          <a:bodyPr wrap="none">
            <a:spAutoFit/>
          </a:bodyPr>
          <a:lstStyle/>
          <a:p>
            <a:pPr>
              <a:defRPr sz="1200">
                <a:solidFill>
                  <a:srgbClr val="94A3B8"/>
                </a:solidFill>
              </a:defRPr>
            </a:pPr>
            <a:r>
              <a:t>Strong unit economics, carbon sequestration, and farmer profitability.</a:t>
            </a:r>
          </a:p>
        </p:txBody>
      </p:sp>
      <p:sp>
        <p:nvSpPr>
          <p:cNvPr id="6" name="Rounded Rectangle 5"/>
          <p:cNvSpPr/>
          <p:nvPr/>
        </p:nvSpPr>
        <p:spPr>
          <a:xfrm>
            <a:off x="9601200" y="502920"/>
            <a:ext cx="1828800" cy="502920"/>
          </a:xfrm>
          <a:prstGeom prst="roundRect">
            <a:avLst/>
          </a:prstGeom>
          <a:solidFill>
            <a:srgbClr val="131D33"/>
          </a:solidFill>
          <a:ln>
            <a:solidFill>
              <a:srgbClr val="22314E"/>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100" b="1">
                <a:solidFill>
                  <a:srgbClr val="F59E0B"/>
                </a:solidFill>
              </a:defRPr>
            </a:pPr>
            <a:r>
              <a:t>~35 Seconds</a:t>
            </a:r>
          </a:p>
        </p:txBody>
      </p:sp>
      <p:sp>
        <p:nvSpPr>
          <p:cNvPr id="7" name="Rounded Rectangle 6"/>
          <p:cNvSpPr/>
          <p:nvPr/>
        </p:nvSpPr>
        <p:spPr>
          <a:xfrm>
            <a:off x="731520" y="1828800"/>
            <a:ext cx="3383280" cy="4114800"/>
          </a:xfrm>
          <a:prstGeom prst="roundRect">
            <a:avLst/>
          </a:prstGeom>
          <a:solidFill>
            <a:srgbClr val="131D33"/>
          </a:solidFill>
          <a:ln w="12700">
            <a:solidFill>
              <a:srgbClr val="22314E"/>
            </a:solidFill>
          </a:ln>
        </p:spPr>
        <p:style>
          <a:lnRef idx="1">
            <a:schemeClr val="accent1"/>
          </a:lnRef>
          <a:fillRef idx="3">
            <a:schemeClr val="accent1"/>
          </a:fillRef>
          <a:effectRef idx="2">
            <a:schemeClr val="accent1"/>
          </a:effectRef>
          <a:fontRef idx="minor">
            <a:schemeClr val="lt1"/>
          </a:fontRef>
        </p:style>
        <p:txBody>
          <a:bodyPr rtlCol="0" anchor="ctr" wrap="square" lIns="228600" rIns="228600" tIns="201168" bIns="182880"/>
          <a:lstStyle/>
          <a:p>
            <a:pPr algn="ctr">
              <a:defRPr sz="1500" b="1">
                <a:solidFill>
                  <a:srgbClr val="FFFFFF"/>
                </a:solidFill>
              </a:defRPr>
            </a:pPr>
            <a:r>
              <a:t>Unit Economics: 56% Margin</a:t>
            </a:r>
          </a:p>
          <a:p>
            <a:pPr>
              <a:spcBef>
                <a:spcPts val="400"/>
              </a:spcBef>
              <a:defRPr sz="2200" b="1">
                <a:solidFill>
                  <a:srgbClr val="F59E0B"/>
                </a:solidFill>
              </a:defRPr>
            </a:pPr>
            <a:r>
              <a:t>56% Margin</a:t>
            </a:r>
          </a:p>
          <a:p>
            <a:pPr>
              <a:spcAft>
                <a:spcPts val="600"/>
              </a:spcAft>
              <a:defRPr sz="1000">
                <a:solidFill>
                  <a:srgbClr val="94A3B8"/>
                </a:solidFill>
              </a:defRPr>
            </a:pPr>
            <a:r>
              <a:t>Healthy Unit Margin</a:t>
            </a:r>
          </a:p>
          <a:p>
            <a:pPr>
              <a:spcBef>
                <a:spcPts val="300"/>
              </a:spcBef>
              <a:defRPr sz="1100">
                <a:solidFill>
                  <a:srgbClr val="E2E8F0"/>
                </a:solidFill>
              </a:defRPr>
            </a:pPr>
            <a:r>
              <a:t>• EV Collection Cost: ₹2.80 / kg</a:t>
            </a:r>
          </a:p>
          <a:p>
            <a:pPr>
              <a:spcBef>
                <a:spcPts val="300"/>
              </a:spcBef>
              <a:defRPr sz="1100">
                <a:solidFill>
                  <a:srgbClr val="E2E8F0"/>
                </a:solidFill>
              </a:defRPr>
            </a:pPr>
            <a:r>
              <a:t>• Bio-Processing Cost: ₹3.50 / kg</a:t>
            </a:r>
          </a:p>
          <a:p>
            <a:pPr>
              <a:spcBef>
                <a:spcPts val="300"/>
              </a:spcBef>
              <a:defRPr sz="1100">
                <a:solidFill>
                  <a:srgbClr val="E2E8F0"/>
                </a:solidFill>
              </a:defRPr>
            </a:pPr>
            <a:r>
              <a:t>• Total Unit Cost: ₹6.30 / kg</a:t>
            </a:r>
          </a:p>
          <a:p>
            <a:pPr>
              <a:spcBef>
                <a:spcPts val="300"/>
              </a:spcBef>
              <a:defRPr sz="1100">
                <a:solidFill>
                  <a:srgbClr val="E2E8F0"/>
                </a:solidFill>
              </a:defRPr>
            </a:pPr>
            <a:r>
              <a:t>• Blended Selling Price: ₹14.50 / kg</a:t>
            </a:r>
          </a:p>
          <a:p>
            <a:pPr>
              <a:spcBef>
                <a:spcPts val="300"/>
              </a:spcBef>
              <a:defRPr sz="1100">
                <a:solidFill>
                  <a:srgbClr val="E2E8F0"/>
                </a:solidFill>
              </a:defRPr>
            </a:pPr>
            <a:r>
              <a:t>• Gross Margin: 56% (profitable by Month 14)</a:t>
            </a:r>
          </a:p>
        </p:txBody>
      </p:sp>
      <p:sp>
        <p:nvSpPr>
          <p:cNvPr id="8" name="Rounded Rectangle 7"/>
          <p:cNvSpPr/>
          <p:nvPr/>
        </p:nvSpPr>
        <p:spPr>
          <a:xfrm>
            <a:off x="4389120" y="1828800"/>
            <a:ext cx="3383280" cy="4114800"/>
          </a:xfrm>
          <a:prstGeom prst="roundRect">
            <a:avLst/>
          </a:prstGeom>
          <a:solidFill>
            <a:srgbClr val="131D33"/>
          </a:solidFill>
          <a:ln w="12700">
            <a:solidFill>
              <a:srgbClr val="22314E"/>
            </a:solidFill>
          </a:ln>
        </p:spPr>
        <p:style>
          <a:lnRef idx="1">
            <a:schemeClr val="accent1"/>
          </a:lnRef>
          <a:fillRef idx="3">
            <a:schemeClr val="accent1"/>
          </a:fillRef>
          <a:effectRef idx="2">
            <a:schemeClr val="accent1"/>
          </a:effectRef>
          <a:fontRef idx="minor">
            <a:schemeClr val="lt1"/>
          </a:fontRef>
        </p:style>
        <p:txBody>
          <a:bodyPr rtlCol="0" anchor="ctr" wrap="square" lIns="228600" rIns="228600" tIns="201168" bIns="182880"/>
          <a:lstStyle/>
          <a:p>
            <a:pPr algn="ctr">
              <a:defRPr sz="1500" b="1">
                <a:solidFill>
                  <a:srgbClr val="FFFFFF"/>
                </a:solidFill>
              </a:defRPr>
            </a:pPr>
            <a:r>
              <a:t>Environmental Impact</a:t>
            </a:r>
          </a:p>
          <a:p>
            <a:pPr>
              <a:spcBef>
                <a:spcPts val="400"/>
              </a:spcBef>
              <a:defRPr sz="2200" b="1">
                <a:solidFill>
                  <a:srgbClr val="10B981"/>
                </a:solidFill>
              </a:defRPr>
            </a:pPr>
            <a:r>
              <a:t>1,875 MT CO₂e</a:t>
            </a:r>
          </a:p>
          <a:p>
            <a:pPr>
              <a:spcAft>
                <a:spcPts val="600"/>
              </a:spcAft>
              <a:defRPr sz="1000">
                <a:solidFill>
                  <a:srgbClr val="94A3B8"/>
                </a:solidFill>
              </a:defRPr>
            </a:pPr>
            <a:r>
              <a:t>Landfill Abatement</a:t>
            </a:r>
          </a:p>
          <a:p>
            <a:pPr>
              <a:spcBef>
                <a:spcPts val="300"/>
              </a:spcBef>
              <a:defRPr sz="1100">
                <a:solidFill>
                  <a:srgbClr val="E2E8F0"/>
                </a:solidFill>
              </a:defRPr>
            </a:pPr>
            <a:r>
              <a:t>• 1,500 MT organic waste diverted / hub / yr</a:t>
            </a:r>
          </a:p>
          <a:p>
            <a:pPr>
              <a:spcBef>
                <a:spcPts val="300"/>
              </a:spcBef>
              <a:defRPr sz="1100">
                <a:solidFill>
                  <a:srgbClr val="E2E8F0"/>
                </a:solidFill>
              </a:defRPr>
            </a:pPr>
            <a:r>
              <a:t>• 1,875 MT CO₂e methane emissions avoided</a:t>
            </a:r>
          </a:p>
          <a:p>
            <a:pPr>
              <a:spcBef>
                <a:spcPts val="300"/>
              </a:spcBef>
              <a:defRPr sz="1100">
                <a:solidFill>
                  <a:srgbClr val="E2E8F0"/>
                </a:solidFill>
              </a:defRPr>
            </a:pPr>
            <a:r>
              <a:t>• 100+ Year Carbon Lock via 550°C pyrolyzed biochar</a:t>
            </a:r>
          </a:p>
          <a:p>
            <a:pPr>
              <a:spcBef>
                <a:spcPts val="300"/>
              </a:spcBef>
              <a:defRPr sz="1100">
                <a:solidFill>
                  <a:srgbClr val="E2E8F0"/>
                </a:solidFill>
              </a:defRPr>
            </a:pPr>
            <a:r>
              <a:t>• Verifiable voluntary carbon credits (₹850/MT)</a:t>
            </a:r>
          </a:p>
        </p:txBody>
      </p:sp>
      <p:sp>
        <p:nvSpPr>
          <p:cNvPr id="9" name="Rounded Rectangle 8"/>
          <p:cNvSpPr/>
          <p:nvPr/>
        </p:nvSpPr>
        <p:spPr>
          <a:xfrm>
            <a:off x="8046720" y="1828800"/>
            <a:ext cx="3383280" cy="4114800"/>
          </a:xfrm>
          <a:prstGeom prst="roundRect">
            <a:avLst/>
          </a:prstGeom>
          <a:solidFill>
            <a:srgbClr val="131D33"/>
          </a:solidFill>
          <a:ln w="12700">
            <a:solidFill>
              <a:srgbClr val="22314E"/>
            </a:solidFill>
          </a:ln>
        </p:spPr>
        <p:style>
          <a:lnRef idx="1">
            <a:schemeClr val="accent1"/>
          </a:lnRef>
          <a:fillRef idx="3">
            <a:schemeClr val="accent1"/>
          </a:fillRef>
          <a:effectRef idx="2">
            <a:schemeClr val="accent1"/>
          </a:effectRef>
          <a:fontRef idx="minor">
            <a:schemeClr val="lt1"/>
          </a:fontRef>
        </p:style>
        <p:txBody>
          <a:bodyPr rtlCol="0" anchor="ctr" wrap="square" lIns="228600" rIns="228600" tIns="201168" bIns="182880"/>
          <a:lstStyle/>
          <a:p>
            <a:pPr algn="ctr">
              <a:defRPr sz="1500" b="1">
                <a:solidFill>
                  <a:srgbClr val="FFFFFF"/>
                </a:solidFill>
              </a:defRPr>
            </a:pPr>
            <a:r>
              <a:t>Farmer &amp; Social Value</a:t>
            </a:r>
          </a:p>
          <a:p>
            <a:pPr>
              <a:spcBef>
                <a:spcPts val="400"/>
              </a:spcBef>
              <a:defRPr sz="2200" b="1">
                <a:solidFill>
                  <a:srgbClr val="38BDF8"/>
                </a:solidFill>
              </a:defRPr>
            </a:pPr>
            <a:r>
              <a:t>35% Cost Cut</a:t>
            </a:r>
          </a:p>
          <a:p>
            <a:pPr>
              <a:spcAft>
                <a:spcPts val="600"/>
              </a:spcAft>
              <a:defRPr sz="1000">
                <a:solidFill>
                  <a:srgbClr val="94A3B8"/>
                </a:solidFill>
              </a:defRPr>
            </a:pPr>
            <a:r>
              <a:t>Farmer Savings</a:t>
            </a:r>
          </a:p>
          <a:p>
            <a:pPr>
              <a:spcBef>
                <a:spcPts val="300"/>
              </a:spcBef>
              <a:defRPr sz="1100">
                <a:solidFill>
                  <a:srgbClr val="E2E8F0"/>
                </a:solidFill>
              </a:defRPr>
            </a:pPr>
            <a:r>
              <a:t>• 35% net savings on chemical fertilizers</a:t>
            </a:r>
          </a:p>
          <a:p>
            <a:pPr>
              <a:spcBef>
                <a:spcPts val="300"/>
              </a:spcBef>
              <a:defRPr sz="1100">
                <a:solidFill>
                  <a:srgbClr val="E2E8F0"/>
                </a:solidFill>
              </a:defRPr>
            </a:pPr>
            <a:r>
              <a:t>• Saves ₹12,000–₹18,000 per acre per season</a:t>
            </a:r>
          </a:p>
          <a:p>
            <a:pPr>
              <a:spcBef>
                <a:spcPts val="300"/>
              </a:spcBef>
              <a:defRPr sz="1100">
                <a:solidFill>
                  <a:srgbClr val="E2E8F0"/>
                </a:solidFill>
              </a:defRPr>
            </a:pPr>
            <a:r>
              <a:t>• 18% average crop yield increase</a:t>
            </a:r>
          </a:p>
          <a:p>
            <a:pPr>
              <a:spcBef>
                <a:spcPts val="300"/>
              </a:spcBef>
              <a:defRPr sz="1100">
                <a:solidFill>
                  <a:srgbClr val="E2E8F0"/>
                </a:solidFill>
              </a:defRPr>
            </a:pPr>
            <a:r>
              <a:t>• 25 dignified formal green logistics jobs created</a:t>
            </a:r>
          </a:p>
        </p:txBody>
      </p:sp>
    </p:spTree>
  </p:cSld>
  <p:clrMapOvr>
    <a:masterClrMapping/>
  </p:clrMapOvr>
  <p:transition spd="med">
    <p:fade/>
  </p:transition>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112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7315200" cy="320040"/>
          </a:xfrm>
          <a:prstGeom prst="rect">
            <a:avLst/>
          </a:prstGeom>
          <a:noFill/>
        </p:spPr>
        <p:txBody>
          <a:bodyPr wrap="none">
            <a:spAutoFit/>
          </a:bodyPr>
          <a:lstStyle/>
          <a:p>
            <a:pPr>
              <a:defRPr sz="1100" b="1">
                <a:solidFill>
                  <a:srgbClr val="10B981"/>
                </a:solidFill>
              </a:defRPr>
            </a:pPr>
            <a:r>
              <a:t>SECTION 06 OF 06</a:t>
            </a:r>
          </a:p>
        </p:txBody>
      </p:sp>
      <p:sp>
        <p:nvSpPr>
          <p:cNvPr id="4" name="TextBox 3"/>
          <p:cNvSpPr txBox="1"/>
          <p:nvPr/>
        </p:nvSpPr>
        <p:spPr>
          <a:xfrm>
            <a:off x="731520" y="640080"/>
            <a:ext cx="8686800" cy="594360"/>
          </a:xfrm>
          <a:prstGeom prst="rect">
            <a:avLst/>
          </a:prstGeom>
          <a:noFill/>
        </p:spPr>
        <p:txBody>
          <a:bodyPr wrap="none">
            <a:spAutoFit/>
          </a:bodyPr>
          <a:lstStyle/>
          <a:p>
            <a:pPr>
              <a:defRPr sz="2400" b="1">
                <a:solidFill>
                  <a:srgbClr val="FFFFFF"/>
                </a:solidFill>
              </a:defRPr>
            </a:pPr>
            <a:r>
              <a:t>06. Future Scope &amp; Commercialization</a:t>
            </a:r>
          </a:p>
        </p:txBody>
      </p:sp>
      <p:sp>
        <p:nvSpPr>
          <p:cNvPr id="5" name="TextBox 4"/>
          <p:cNvSpPr txBox="1"/>
          <p:nvPr/>
        </p:nvSpPr>
        <p:spPr>
          <a:xfrm>
            <a:off x="731520" y="1234440"/>
            <a:ext cx="8686800" cy="365760"/>
          </a:xfrm>
          <a:prstGeom prst="rect">
            <a:avLst/>
          </a:prstGeom>
          <a:noFill/>
        </p:spPr>
        <p:txBody>
          <a:bodyPr wrap="none">
            <a:spAutoFit/>
          </a:bodyPr>
          <a:lstStyle/>
          <a:p>
            <a:pPr>
              <a:defRPr sz="1200">
                <a:solidFill>
                  <a:srgbClr val="94A3B8"/>
                </a:solidFill>
              </a:defRPr>
            </a:pPr>
            <a:r>
              <a:t>A scalable 3-phase roadmap to regional scale and carbon monetization.</a:t>
            </a:r>
          </a:p>
        </p:txBody>
      </p:sp>
      <p:sp>
        <p:nvSpPr>
          <p:cNvPr id="6" name="Rounded Rectangle 5"/>
          <p:cNvSpPr/>
          <p:nvPr/>
        </p:nvSpPr>
        <p:spPr>
          <a:xfrm>
            <a:off x="9601200" y="502920"/>
            <a:ext cx="1828800" cy="502920"/>
          </a:xfrm>
          <a:prstGeom prst="roundRect">
            <a:avLst/>
          </a:prstGeom>
          <a:solidFill>
            <a:srgbClr val="131D33"/>
          </a:solidFill>
          <a:ln>
            <a:solidFill>
              <a:srgbClr val="22314E"/>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100" b="1">
                <a:solidFill>
                  <a:srgbClr val="F59E0B"/>
                </a:solidFill>
              </a:defRPr>
            </a:pPr>
            <a:r>
              <a:t>~30 Seconds</a:t>
            </a:r>
          </a:p>
        </p:txBody>
      </p:sp>
      <p:sp>
        <p:nvSpPr>
          <p:cNvPr id="7" name="Rounded Rectangle 6"/>
          <p:cNvSpPr/>
          <p:nvPr/>
        </p:nvSpPr>
        <p:spPr>
          <a:xfrm>
            <a:off x="731520" y="1828800"/>
            <a:ext cx="3383280" cy="4114800"/>
          </a:xfrm>
          <a:prstGeom prst="roundRect">
            <a:avLst/>
          </a:prstGeom>
          <a:solidFill>
            <a:srgbClr val="131D33"/>
          </a:solidFill>
          <a:ln w="12700">
            <a:solidFill>
              <a:srgbClr val="22314E"/>
            </a:solidFill>
          </a:ln>
        </p:spPr>
        <p:style>
          <a:lnRef idx="1">
            <a:schemeClr val="accent1"/>
          </a:lnRef>
          <a:fillRef idx="3">
            <a:schemeClr val="accent1"/>
          </a:fillRef>
          <a:effectRef idx="2">
            <a:schemeClr val="accent1"/>
          </a:effectRef>
          <a:fontRef idx="minor">
            <a:schemeClr val="lt1"/>
          </a:fontRef>
        </p:style>
        <p:txBody>
          <a:bodyPr rtlCol="0" anchor="ctr" wrap="square" lIns="228600" rIns="228600" tIns="201168" bIns="182880"/>
          <a:lstStyle/>
          <a:p>
            <a:pPr algn="ctr">
              <a:defRPr sz="1500" b="1">
                <a:solidFill>
                  <a:srgbClr val="FFFFFF"/>
                </a:solidFill>
              </a:defRPr>
            </a:pPr>
            <a:r>
              <a:t>Phase 1 (Months 1–12)</a:t>
            </a:r>
          </a:p>
          <a:p>
            <a:pPr>
              <a:spcBef>
                <a:spcPts val="400"/>
              </a:spcBef>
              <a:defRPr sz="2200" b="1">
                <a:solidFill>
                  <a:srgbClr val="10B981"/>
                </a:solidFill>
              </a:defRPr>
            </a:pPr>
            <a:r>
              <a:t>Pune Hub</a:t>
            </a:r>
          </a:p>
          <a:p>
            <a:pPr>
              <a:spcAft>
                <a:spcPts val="600"/>
              </a:spcAft>
              <a:defRPr sz="1000">
                <a:solidFill>
                  <a:srgbClr val="94A3B8"/>
                </a:solidFill>
              </a:defRPr>
            </a:pPr>
            <a:r>
              <a:t>Proof of Concept</a:t>
            </a:r>
          </a:p>
          <a:p>
            <a:pPr>
              <a:spcBef>
                <a:spcPts val="300"/>
              </a:spcBef>
              <a:defRPr sz="1100">
                <a:solidFill>
                  <a:srgbClr val="E2E8F0"/>
                </a:solidFill>
              </a:defRPr>
            </a:pPr>
            <a:r>
              <a:t>• Pune Bhosari Pilot Hub</a:t>
            </a:r>
          </a:p>
          <a:p>
            <a:pPr>
              <a:spcBef>
                <a:spcPts val="300"/>
              </a:spcBef>
              <a:defRPr sz="1100">
                <a:solidFill>
                  <a:srgbClr val="E2E8F0"/>
                </a:solidFill>
              </a:defRPr>
            </a:pPr>
            <a:r>
              <a:t>• 15 EV Loader routes in Kothrud &amp; FC Road</a:t>
            </a:r>
          </a:p>
          <a:p>
            <a:pPr>
              <a:spcBef>
                <a:spcPts val="300"/>
              </a:spcBef>
              <a:defRPr sz="1100">
                <a:solidFill>
                  <a:srgbClr val="E2E8F0"/>
                </a:solidFill>
              </a:defRPr>
            </a:pPr>
            <a:r>
              <a:t>• 12,000 households &amp; 180 restaurants</a:t>
            </a:r>
          </a:p>
          <a:p>
            <a:pPr>
              <a:spcBef>
                <a:spcPts val="300"/>
              </a:spcBef>
              <a:defRPr sz="1100">
                <a:solidFill>
                  <a:srgbClr val="E2E8F0"/>
                </a:solidFill>
              </a:defRPr>
            </a:pPr>
            <a:r>
              <a:t>• 1,100 smallholders in Khed</a:t>
            </a:r>
          </a:p>
          <a:p>
            <a:pPr>
              <a:spcBef>
                <a:spcPts val="300"/>
              </a:spcBef>
              <a:defRPr sz="1100">
                <a:solidFill>
                  <a:srgbClr val="E2E8F0"/>
                </a:solidFill>
              </a:defRPr>
            </a:pPr>
            <a:r>
              <a:t>• 1,500 MT diversion proof-of-concept</a:t>
            </a:r>
          </a:p>
        </p:txBody>
      </p:sp>
      <p:sp>
        <p:nvSpPr>
          <p:cNvPr id="8" name="Rounded Rectangle 7"/>
          <p:cNvSpPr/>
          <p:nvPr/>
        </p:nvSpPr>
        <p:spPr>
          <a:xfrm>
            <a:off x="4389120" y="1828800"/>
            <a:ext cx="3383280" cy="4114800"/>
          </a:xfrm>
          <a:prstGeom prst="roundRect">
            <a:avLst/>
          </a:prstGeom>
          <a:solidFill>
            <a:srgbClr val="131D33"/>
          </a:solidFill>
          <a:ln w="12700">
            <a:solidFill>
              <a:srgbClr val="22314E"/>
            </a:solidFill>
          </a:ln>
        </p:spPr>
        <p:style>
          <a:lnRef idx="1">
            <a:schemeClr val="accent1"/>
          </a:lnRef>
          <a:fillRef idx="3">
            <a:schemeClr val="accent1"/>
          </a:fillRef>
          <a:effectRef idx="2">
            <a:schemeClr val="accent1"/>
          </a:effectRef>
          <a:fontRef idx="minor">
            <a:schemeClr val="lt1"/>
          </a:fontRef>
        </p:style>
        <p:txBody>
          <a:bodyPr rtlCol="0" anchor="ctr" wrap="square" lIns="228600" rIns="228600" tIns="201168" bIns="182880"/>
          <a:lstStyle/>
          <a:p>
            <a:pPr algn="ctr">
              <a:defRPr sz="1500" b="1">
                <a:solidFill>
                  <a:srgbClr val="FFFFFF"/>
                </a:solidFill>
              </a:defRPr>
            </a:pPr>
            <a:r>
              <a:t>Phase 2 (Months 13–24)</a:t>
            </a:r>
          </a:p>
          <a:p>
            <a:pPr>
              <a:spcBef>
                <a:spcPts val="400"/>
              </a:spcBef>
              <a:defRPr sz="2200" b="1">
                <a:solidFill>
                  <a:srgbClr val="38BDF8"/>
                </a:solidFill>
              </a:defRPr>
            </a:pPr>
            <a:r>
              <a:t>+₹17L EBITDA</a:t>
            </a:r>
          </a:p>
          <a:p>
            <a:pPr>
              <a:spcAft>
                <a:spcPts val="600"/>
              </a:spcAft>
              <a:defRPr sz="1000">
                <a:solidFill>
                  <a:srgbClr val="94A3B8"/>
                </a:solidFill>
              </a:defRPr>
            </a:pPr>
            <a:r>
              <a:t>Commercial Breakeven</a:t>
            </a:r>
          </a:p>
          <a:p>
            <a:pPr>
              <a:spcBef>
                <a:spcPts val="300"/>
              </a:spcBef>
              <a:defRPr sz="1100">
                <a:solidFill>
                  <a:srgbClr val="E2E8F0"/>
                </a:solidFill>
              </a:defRPr>
            </a:pPr>
            <a:r>
              <a:t>• Expand across PCMC municipality</a:t>
            </a:r>
          </a:p>
          <a:p>
            <a:pPr>
              <a:spcBef>
                <a:spcPts val="300"/>
              </a:spcBef>
              <a:defRPr sz="1100">
                <a:solidFill>
                  <a:srgbClr val="E2E8F0"/>
                </a:solidFill>
              </a:defRPr>
            </a:pPr>
            <a:r>
              <a:t>• B2B contracts with Chakan auto canteens</a:t>
            </a:r>
          </a:p>
          <a:p>
            <a:pPr>
              <a:spcBef>
                <a:spcPts val="300"/>
              </a:spcBef>
              <a:defRPr sz="1100">
                <a:solidFill>
                  <a:srgbClr val="E2E8F0"/>
                </a:solidFill>
              </a:defRPr>
            </a:pPr>
            <a:r>
              <a:t>• Tata Motors, Bajaj, Force plant canteens</a:t>
            </a:r>
          </a:p>
          <a:p>
            <a:pPr>
              <a:spcBef>
                <a:spcPts val="300"/>
              </a:spcBef>
              <a:defRPr sz="1100">
                <a:solidFill>
                  <a:srgbClr val="E2E8F0"/>
                </a:solidFill>
              </a:defRPr>
            </a:pPr>
            <a:r>
              <a:t>• Reach positive EBITDA (+₹17L)</a:t>
            </a:r>
          </a:p>
          <a:p>
            <a:pPr>
              <a:spcBef>
                <a:spcPts val="300"/>
              </a:spcBef>
              <a:defRPr sz="1100">
                <a:solidFill>
                  <a:srgbClr val="E2E8F0"/>
                </a:solidFill>
              </a:defRPr>
            </a:pPr>
            <a:r>
              <a:t>• 3 operational regional hubs</a:t>
            </a:r>
          </a:p>
        </p:txBody>
      </p:sp>
      <p:sp>
        <p:nvSpPr>
          <p:cNvPr id="9" name="Rounded Rectangle 8"/>
          <p:cNvSpPr/>
          <p:nvPr/>
        </p:nvSpPr>
        <p:spPr>
          <a:xfrm>
            <a:off x="8046720" y="1828800"/>
            <a:ext cx="3383280" cy="4114800"/>
          </a:xfrm>
          <a:prstGeom prst="roundRect">
            <a:avLst/>
          </a:prstGeom>
          <a:solidFill>
            <a:srgbClr val="131D33"/>
          </a:solidFill>
          <a:ln w="12700">
            <a:solidFill>
              <a:srgbClr val="22314E"/>
            </a:solidFill>
          </a:ln>
        </p:spPr>
        <p:style>
          <a:lnRef idx="1">
            <a:schemeClr val="accent1"/>
          </a:lnRef>
          <a:fillRef idx="3">
            <a:schemeClr val="accent1"/>
          </a:fillRef>
          <a:effectRef idx="2">
            <a:schemeClr val="accent1"/>
          </a:effectRef>
          <a:fontRef idx="minor">
            <a:schemeClr val="lt1"/>
          </a:fontRef>
        </p:style>
        <p:txBody>
          <a:bodyPr rtlCol="0" anchor="ctr" wrap="square" lIns="228600" rIns="228600" tIns="201168" bIns="182880"/>
          <a:lstStyle/>
          <a:p>
            <a:pPr algn="ctr">
              <a:defRPr sz="1500" b="1">
                <a:solidFill>
                  <a:srgbClr val="FFFFFF"/>
                </a:solidFill>
              </a:defRPr>
            </a:pPr>
            <a:r>
              <a:t>Phase 3 (Months 25–36)</a:t>
            </a:r>
          </a:p>
          <a:p>
            <a:pPr>
              <a:spcBef>
                <a:spcPts val="400"/>
              </a:spcBef>
              <a:defRPr sz="2200" b="1">
                <a:solidFill>
                  <a:srgbClr val="F59E0B"/>
                </a:solidFill>
              </a:defRPr>
            </a:pPr>
            <a:r>
              <a:t>₹2.25 Cr ARR</a:t>
            </a:r>
          </a:p>
          <a:p>
            <a:pPr>
              <a:spcAft>
                <a:spcPts val="600"/>
              </a:spcAft>
              <a:defRPr sz="1000">
                <a:solidFill>
                  <a:srgbClr val="94A3B8"/>
                </a:solidFill>
              </a:defRPr>
            </a:pPr>
            <a:r>
              <a:t>Regional Scale</a:t>
            </a:r>
          </a:p>
          <a:p>
            <a:pPr>
              <a:spcBef>
                <a:spcPts val="300"/>
              </a:spcBef>
              <a:defRPr sz="1100">
                <a:solidFill>
                  <a:srgbClr val="E2E8F0"/>
                </a:solidFill>
              </a:defRPr>
            </a:pPr>
            <a:r>
              <a:t>• Containerized modular bio-refineries</a:t>
            </a:r>
          </a:p>
          <a:p>
            <a:pPr>
              <a:spcBef>
                <a:spcPts val="300"/>
              </a:spcBef>
              <a:defRPr sz="1100">
                <a:solidFill>
                  <a:srgbClr val="E2E8F0"/>
                </a:solidFill>
              </a:defRPr>
            </a:pPr>
            <a:r>
              <a:t>• Deployment in Nashik &amp; Satara agri belts</a:t>
            </a:r>
          </a:p>
          <a:p>
            <a:pPr>
              <a:spcBef>
                <a:spcPts val="300"/>
              </a:spcBef>
              <a:defRPr sz="1100">
                <a:solidFill>
                  <a:srgbClr val="E2E8F0"/>
                </a:solidFill>
              </a:defRPr>
            </a:pPr>
            <a:r>
              <a:t>• Tokenized voluntary carbon credit sales</a:t>
            </a:r>
          </a:p>
          <a:p>
            <a:pPr>
              <a:spcBef>
                <a:spcPts val="300"/>
              </a:spcBef>
              <a:defRPr sz="1100">
                <a:solidFill>
                  <a:srgbClr val="E2E8F0"/>
                </a:solidFill>
              </a:defRPr>
            </a:pPr>
            <a:r>
              <a:t>• ₹2.25 Crore Annual Recurring Revenue</a:t>
            </a:r>
          </a:p>
          <a:p>
            <a:pPr>
              <a:spcBef>
                <a:spcPts val="300"/>
              </a:spcBef>
              <a:defRPr sz="1100">
                <a:solidFill>
                  <a:srgbClr val="E2E8F0"/>
                </a:solidFill>
              </a:defRPr>
            </a:pPr>
            <a:r>
              <a:t>• Replicable to Smart Cities across India</a:t>
            </a:r>
          </a:p>
        </p:txBody>
      </p:sp>
    </p:spTree>
  </p:cSld>
  <p:clrMapOvr>
    <a:masterClrMapping/>
  </p:clrMapOvr>
  <p:transition spd="med">
    <p:fade/>
  </p:transition>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112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7315200" cy="320040"/>
          </a:xfrm>
          <a:prstGeom prst="rect">
            <a:avLst/>
          </a:prstGeom>
          <a:noFill/>
        </p:spPr>
        <p:txBody>
          <a:bodyPr wrap="none">
            <a:spAutoFit/>
          </a:bodyPr>
          <a:lstStyle/>
          <a:p>
            <a:pPr>
              <a:defRPr sz="1100" b="1">
                <a:solidFill>
                  <a:srgbClr val="10B981"/>
                </a:solidFill>
              </a:defRPr>
            </a:pPr>
            <a:r>
              <a:t>SECTION Q/A OF 06</a:t>
            </a:r>
          </a:p>
        </p:txBody>
      </p:sp>
      <p:sp>
        <p:nvSpPr>
          <p:cNvPr id="4" name="TextBox 3"/>
          <p:cNvSpPr txBox="1"/>
          <p:nvPr/>
        </p:nvSpPr>
        <p:spPr>
          <a:xfrm>
            <a:off x="731520" y="640080"/>
            <a:ext cx="8686800" cy="594360"/>
          </a:xfrm>
          <a:prstGeom prst="rect">
            <a:avLst/>
          </a:prstGeom>
          <a:noFill/>
        </p:spPr>
        <p:txBody>
          <a:bodyPr wrap="none">
            <a:spAutoFit/>
          </a:bodyPr>
          <a:lstStyle/>
          <a:p>
            <a:pPr>
              <a:defRPr sz="2400" b="1">
                <a:solidFill>
                  <a:srgbClr val="FFFFFF"/>
                </a:solidFill>
              </a:defRPr>
            </a:pPr>
            <a:r>
              <a:t>Conclusion &amp; 2-Minute Q/A Defense</a:t>
            </a:r>
          </a:p>
        </p:txBody>
      </p:sp>
      <p:sp>
        <p:nvSpPr>
          <p:cNvPr id="5" name="TextBox 4"/>
          <p:cNvSpPr txBox="1"/>
          <p:nvPr/>
        </p:nvSpPr>
        <p:spPr>
          <a:xfrm>
            <a:off x="731520" y="1234440"/>
            <a:ext cx="8686800" cy="365760"/>
          </a:xfrm>
          <a:prstGeom prst="rect">
            <a:avLst/>
          </a:prstGeom>
          <a:noFill/>
        </p:spPr>
        <p:txBody>
          <a:bodyPr wrap="none">
            <a:spAutoFit/>
          </a:bodyPr>
          <a:lstStyle/>
          <a:p>
            <a:pPr>
              <a:defRPr sz="1200">
                <a:solidFill>
                  <a:srgbClr val="94A3B8"/>
                </a:solidFill>
              </a:defRPr>
            </a:pPr>
            <a:r>
              <a:t>Rapid, quantitative answers prepared for the 2-minute judge defense.</a:t>
            </a:r>
          </a:p>
        </p:txBody>
      </p:sp>
      <p:sp>
        <p:nvSpPr>
          <p:cNvPr id="6" name="Rounded Rectangle 5"/>
          <p:cNvSpPr/>
          <p:nvPr/>
        </p:nvSpPr>
        <p:spPr>
          <a:xfrm>
            <a:off x="9601200" y="502920"/>
            <a:ext cx="1828800" cy="502920"/>
          </a:xfrm>
          <a:prstGeom prst="roundRect">
            <a:avLst/>
          </a:prstGeom>
          <a:solidFill>
            <a:srgbClr val="131D33"/>
          </a:solidFill>
          <a:ln>
            <a:solidFill>
              <a:srgbClr val="22314E"/>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100" b="1">
                <a:solidFill>
                  <a:srgbClr val="F59E0B"/>
                </a:solidFill>
              </a:defRPr>
            </a:pPr>
            <a:r>
              <a:t>2 Min Q/A</a:t>
            </a:r>
          </a:p>
        </p:txBody>
      </p:sp>
      <p:sp>
        <p:nvSpPr>
          <p:cNvPr id="7" name="Rounded Rectangle 6"/>
          <p:cNvSpPr/>
          <p:nvPr/>
        </p:nvSpPr>
        <p:spPr>
          <a:xfrm>
            <a:off x="731520" y="1828800"/>
            <a:ext cx="2468880" cy="1920240"/>
          </a:xfrm>
          <a:prstGeom prst="roundRect">
            <a:avLst/>
          </a:prstGeom>
          <a:solidFill>
            <a:srgbClr val="131D33"/>
          </a:solidFill>
          <a:ln w="12700">
            <a:solidFill>
              <a:srgbClr val="22314E"/>
            </a:solidFill>
          </a:ln>
        </p:spPr>
        <p:style>
          <a:lnRef idx="1">
            <a:schemeClr val="accent1"/>
          </a:lnRef>
          <a:fillRef idx="3">
            <a:schemeClr val="accent1"/>
          </a:fillRef>
          <a:effectRef idx="2">
            <a:schemeClr val="accent1"/>
          </a:effectRef>
          <a:fontRef idx="minor">
            <a:schemeClr val="lt1"/>
          </a:fontRef>
        </p:style>
        <p:txBody>
          <a:bodyPr rtlCol="0" anchor="ctr" wrap="square" lIns="228600" rIns="228600" tIns="201168" bIns="182880"/>
          <a:lstStyle/>
          <a:p>
            <a:pPr algn="ctr">
              <a:defRPr sz="1500" b="1">
                <a:solidFill>
                  <a:srgbClr val="FFFFFF"/>
                </a:solidFill>
              </a:defRPr>
            </a:pPr>
            <a:r>
              <a:t>1. Contamination</a:t>
            </a:r>
          </a:p>
          <a:p>
            <a:pPr>
              <a:spcBef>
                <a:spcPts val="300"/>
              </a:spcBef>
              <a:defRPr sz="1100">
                <a:solidFill>
                  <a:srgbClr val="E2E8F0"/>
                </a:solidFill>
              </a:defRPr>
            </a:pPr>
            <a:r>
              <a:t>• Doorstep visual inspection (&gt;5% rejection)</a:t>
            </a:r>
          </a:p>
          <a:p>
            <a:pPr>
              <a:spcBef>
                <a:spcPts val="300"/>
              </a:spcBef>
              <a:defRPr sz="1100">
                <a:solidFill>
                  <a:srgbClr val="E2E8F0"/>
                </a:solidFill>
              </a:defRPr>
            </a:pPr>
            <a:r>
              <a:t>• Green token penalties for households</a:t>
            </a:r>
          </a:p>
          <a:p>
            <a:pPr>
              <a:spcBef>
                <a:spcPts val="300"/>
              </a:spcBef>
              <a:defRPr sz="1100">
                <a:solidFill>
                  <a:srgbClr val="E2E8F0"/>
                </a:solidFill>
              </a:defRPr>
            </a:pPr>
            <a:r>
              <a:t>• Rotary trommel sieves at hub</a:t>
            </a:r>
          </a:p>
        </p:txBody>
      </p:sp>
      <p:sp>
        <p:nvSpPr>
          <p:cNvPr id="8" name="Rounded Rectangle 7"/>
          <p:cNvSpPr/>
          <p:nvPr/>
        </p:nvSpPr>
        <p:spPr>
          <a:xfrm>
            <a:off x="3383280" y="1828800"/>
            <a:ext cx="2468880" cy="1920240"/>
          </a:xfrm>
          <a:prstGeom prst="roundRect">
            <a:avLst/>
          </a:prstGeom>
          <a:solidFill>
            <a:srgbClr val="131D33"/>
          </a:solidFill>
          <a:ln w="12700">
            <a:solidFill>
              <a:srgbClr val="22314E"/>
            </a:solidFill>
          </a:ln>
        </p:spPr>
        <p:style>
          <a:lnRef idx="1">
            <a:schemeClr val="accent1"/>
          </a:lnRef>
          <a:fillRef idx="3">
            <a:schemeClr val="accent1"/>
          </a:fillRef>
          <a:effectRef idx="2">
            <a:schemeClr val="accent1"/>
          </a:effectRef>
          <a:fontRef idx="minor">
            <a:schemeClr val="lt1"/>
          </a:fontRef>
        </p:style>
        <p:txBody>
          <a:bodyPr rtlCol="0" anchor="ctr" wrap="square" lIns="228600" rIns="228600" tIns="201168" bIns="182880"/>
          <a:lstStyle/>
          <a:p>
            <a:pPr algn="ctr">
              <a:defRPr sz="1500" b="1">
                <a:solidFill>
                  <a:srgbClr val="FFFFFF"/>
                </a:solidFill>
              </a:defRPr>
            </a:pPr>
            <a:r>
              <a:t>2. Unit Logistics</a:t>
            </a:r>
          </a:p>
          <a:p>
            <a:pPr>
              <a:spcBef>
                <a:spcPts val="300"/>
              </a:spcBef>
              <a:defRPr sz="1100">
                <a:solidFill>
                  <a:srgbClr val="E2E8F0"/>
                </a:solidFill>
              </a:defRPr>
            </a:pPr>
            <a:r>
              <a:t>• ₹2.80/kg via 3-wheeler EV loaders</a:t>
            </a:r>
          </a:p>
          <a:p>
            <a:pPr>
              <a:spcBef>
                <a:spcPts val="300"/>
              </a:spcBef>
              <a:defRPr sz="1100">
                <a:solidFill>
                  <a:srgbClr val="E2E8F0"/>
                </a:solidFill>
              </a:defRPr>
            </a:pPr>
            <a:r>
              <a:t>• EV charging ₹0.40/km vs ₹3.50 diesel</a:t>
            </a:r>
          </a:p>
          <a:p>
            <a:pPr>
              <a:spcBef>
                <a:spcPts val="300"/>
              </a:spcBef>
              <a:defRPr sz="1100">
                <a:solidFill>
                  <a:srgbClr val="E2E8F0"/>
                </a:solidFill>
              </a:defRPr>
            </a:pPr>
            <a:r>
              <a:t>• Dense routes keep distance &lt;12km/shift</a:t>
            </a:r>
          </a:p>
        </p:txBody>
      </p:sp>
      <p:sp>
        <p:nvSpPr>
          <p:cNvPr id="9" name="Rounded Rectangle 8"/>
          <p:cNvSpPr/>
          <p:nvPr/>
        </p:nvSpPr>
        <p:spPr>
          <a:xfrm>
            <a:off x="6035040" y="1828800"/>
            <a:ext cx="2468880" cy="1920240"/>
          </a:xfrm>
          <a:prstGeom prst="roundRect">
            <a:avLst/>
          </a:prstGeom>
          <a:solidFill>
            <a:srgbClr val="131D33"/>
          </a:solidFill>
          <a:ln w="12700">
            <a:solidFill>
              <a:srgbClr val="22314E"/>
            </a:solidFill>
          </a:ln>
        </p:spPr>
        <p:style>
          <a:lnRef idx="1">
            <a:schemeClr val="accent1"/>
          </a:lnRef>
          <a:fillRef idx="3">
            <a:schemeClr val="accent1"/>
          </a:fillRef>
          <a:effectRef idx="2">
            <a:schemeClr val="accent1"/>
          </a:effectRef>
          <a:fontRef idx="minor">
            <a:schemeClr val="lt1"/>
          </a:fontRef>
        </p:style>
        <p:txBody>
          <a:bodyPr rtlCol="0" anchor="ctr" wrap="square" lIns="228600" rIns="228600" tIns="201168" bIns="182880"/>
          <a:lstStyle/>
          <a:p>
            <a:pPr algn="ctr">
              <a:defRPr sz="1500" b="1">
                <a:solidFill>
                  <a:srgbClr val="FFFFFF"/>
                </a:solidFill>
              </a:defRPr>
            </a:pPr>
            <a:r>
              <a:t>3. Farmer Pricing</a:t>
            </a:r>
          </a:p>
          <a:p>
            <a:pPr>
              <a:spcBef>
                <a:spcPts val="300"/>
              </a:spcBef>
              <a:defRPr sz="1100">
                <a:solidFill>
                  <a:srgbClr val="E2E8F0"/>
                </a:solidFill>
              </a:defRPr>
            </a:pPr>
            <a:r>
              <a:t>• Farmers pay ₹28–₹35/kg for chemicals</a:t>
            </a:r>
          </a:p>
          <a:p>
            <a:pPr>
              <a:spcBef>
                <a:spcPts val="300"/>
              </a:spcBef>
              <a:defRPr sz="1100">
                <a:solidFill>
                  <a:srgbClr val="E2E8F0"/>
                </a:solidFill>
              </a:defRPr>
            </a:pPr>
            <a:r>
              <a:t>• AgroLoop vermi @ ₹10 &amp; biochar @ ₹24</a:t>
            </a:r>
          </a:p>
          <a:p>
            <a:pPr>
              <a:spcBef>
                <a:spcPts val="300"/>
              </a:spcBef>
              <a:defRPr sz="1100">
                <a:solidFill>
                  <a:srgbClr val="E2E8F0"/>
                </a:solidFill>
              </a:defRPr>
            </a:pPr>
            <a:r>
              <a:t>• 35% net savings + 28% water retention</a:t>
            </a:r>
          </a:p>
        </p:txBody>
      </p:sp>
      <p:sp>
        <p:nvSpPr>
          <p:cNvPr id="10" name="Rounded Rectangle 9"/>
          <p:cNvSpPr/>
          <p:nvPr/>
        </p:nvSpPr>
        <p:spPr>
          <a:xfrm>
            <a:off x="8686800" y="1828800"/>
            <a:ext cx="2468880" cy="1920240"/>
          </a:xfrm>
          <a:prstGeom prst="roundRect">
            <a:avLst/>
          </a:prstGeom>
          <a:solidFill>
            <a:srgbClr val="131D33"/>
          </a:solidFill>
          <a:ln w="12700">
            <a:solidFill>
              <a:srgbClr val="22314E"/>
            </a:solidFill>
          </a:ln>
        </p:spPr>
        <p:style>
          <a:lnRef idx="1">
            <a:schemeClr val="accent1"/>
          </a:lnRef>
          <a:fillRef idx="3">
            <a:schemeClr val="accent1"/>
          </a:fillRef>
          <a:effectRef idx="2">
            <a:schemeClr val="accent1"/>
          </a:effectRef>
          <a:fontRef idx="minor">
            <a:schemeClr val="lt1"/>
          </a:fontRef>
        </p:style>
        <p:txBody>
          <a:bodyPr rtlCol="0" anchor="ctr" wrap="square" lIns="228600" rIns="228600" tIns="201168" bIns="182880"/>
          <a:lstStyle/>
          <a:p>
            <a:pPr algn="ctr">
              <a:defRPr sz="1500" b="1">
                <a:solidFill>
                  <a:srgbClr val="FFFFFF"/>
                </a:solidFill>
              </a:defRPr>
            </a:pPr>
            <a:r>
              <a:t>4. Odor Management</a:t>
            </a:r>
          </a:p>
          <a:p>
            <a:pPr>
              <a:spcBef>
                <a:spcPts val="300"/>
              </a:spcBef>
              <a:defRPr sz="1100">
                <a:solidFill>
                  <a:srgbClr val="E2E8F0"/>
                </a:solidFill>
              </a:defRPr>
            </a:pPr>
            <a:r>
              <a:t>• Bokashi EM1 anaerobic pre-fermentation</a:t>
            </a:r>
          </a:p>
          <a:p>
            <a:pPr>
              <a:spcBef>
                <a:spcPts val="300"/>
              </a:spcBef>
              <a:defRPr sz="1100">
                <a:solidFill>
                  <a:srgbClr val="E2E8F0"/>
                </a:solidFill>
              </a:defRPr>
            </a:pPr>
            <a:r>
              <a:t>• Drops pH to 4.0 within 48 hours</a:t>
            </a:r>
          </a:p>
          <a:p>
            <a:pPr>
              <a:spcBef>
                <a:spcPts val="300"/>
              </a:spcBef>
              <a:defRPr sz="1100">
                <a:solidFill>
                  <a:srgbClr val="E2E8F0"/>
                </a:solidFill>
              </a:defRPr>
            </a:pPr>
            <a:r>
              <a:t>• Zero sulfur/ammonia gas formation</a:t>
            </a:r>
          </a:p>
        </p:txBody>
      </p:sp>
      <p:sp>
        <p:nvSpPr>
          <p:cNvPr id="11" name="Rounded Rectangle 10"/>
          <p:cNvSpPr/>
          <p:nvPr/>
        </p:nvSpPr>
        <p:spPr>
          <a:xfrm>
            <a:off x="731520" y="3931920"/>
            <a:ext cx="2468880" cy="1920240"/>
          </a:xfrm>
          <a:prstGeom prst="roundRect">
            <a:avLst/>
          </a:prstGeom>
          <a:solidFill>
            <a:srgbClr val="131D33"/>
          </a:solidFill>
          <a:ln w="12700">
            <a:solidFill>
              <a:srgbClr val="22314E"/>
            </a:solidFill>
          </a:ln>
        </p:spPr>
        <p:style>
          <a:lnRef idx="1">
            <a:schemeClr val="accent1"/>
          </a:lnRef>
          <a:fillRef idx="3">
            <a:schemeClr val="accent1"/>
          </a:fillRef>
          <a:effectRef idx="2">
            <a:schemeClr val="accent1"/>
          </a:effectRef>
          <a:fontRef idx="minor">
            <a:schemeClr val="lt1"/>
          </a:fontRef>
        </p:style>
        <p:txBody>
          <a:bodyPr rtlCol="0" anchor="ctr" wrap="square" lIns="228600" rIns="228600" tIns="201168" bIns="182880"/>
          <a:lstStyle/>
          <a:p>
            <a:pPr algn="ctr">
              <a:defRPr sz="1500" b="1">
                <a:solidFill>
                  <a:srgbClr val="FFFFFF"/>
                </a:solidFill>
              </a:defRPr>
            </a:pPr>
            <a:r>
              <a:t>5. AI Guardrails</a:t>
            </a:r>
          </a:p>
          <a:p>
            <a:pPr>
              <a:spcBef>
                <a:spcPts val="300"/>
              </a:spcBef>
              <a:defRPr sz="1100">
                <a:solidFill>
                  <a:srgbClr val="E2E8F0"/>
                </a:solidFill>
              </a:defRPr>
            </a:pPr>
            <a:r>
              <a:t>• Deterministic agronomy fallback engine</a:t>
            </a:r>
          </a:p>
          <a:p>
            <a:pPr>
              <a:spcBef>
                <a:spcPts val="300"/>
              </a:spcBef>
              <a:defRPr sz="1100">
                <a:solidFill>
                  <a:srgbClr val="E2E8F0"/>
                </a:solidFill>
              </a:defRPr>
            </a:pPr>
            <a:r>
              <a:t>• Enforces ICAR NPK dosage safety limits</a:t>
            </a:r>
          </a:p>
          <a:p>
            <a:pPr>
              <a:spcBef>
                <a:spcPts val="300"/>
              </a:spcBef>
              <a:defRPr sz="1100">
                <a:solidFill>
                  <a:srgbClr val="E2E8F0"/>
                </a:solidFill>
              </a:defRPr>
            </a:pPr>
            <a:r>
              <a:t>• Zero risk of crop damage</a:t>
            </a:r>
          </a:p>
        </p:txBody>
      </p:sp>
      <p:sp>
        <p:nvSpPr>
          <p:cNvPr id="12" name="Rounded Rectangle 11"/>
          <p:cNvSpPr/>
          <p:nvPr/>
        </p:nvSpPr>
        <p:spPr>
          <a:xfrm>
            <a:off x="3383280" y="3931920"/>
            <a:ext cx="2468880" cy="1920240"/>
          </a:xfrm>
          <a:prstGeom prst="roundRect">
            <a:avLst/>
          </a:prstGeom>
          <a:solidFill>
            <a:srgbClr val="131D33"/>
          </a:solidFill>
          <a:ln w="12700">
            <a:solidFill>
              <a:srgbClr val="22314E"/>
            </a:solidFill>
          </a:ln>
        </p:spPr>
        <p:style>
          <a:lnRef idx="1">
            <a:schemeClr val="accent1"/>
          </a:lnRef>
          <a:fillRef idx="3">
            <a:schemeClr val="accent1"/>
          </a:fillRef>
          <a:effectRef idx="2">
            <a:schemeClr val="accent1"/>
          </a:effectRef>
          <a:fontRef idx="minor">
            <a:schemeClr val="lt1"/>
          </a:fontRef>
        </p:style>
        <p:txBody>
          <a:bodyPr rtlCol="0" anchor="ctr" wrap="square" lIns="228600" rIns="228600" tIns="201168" bIns="182880"/>
          <a:lstStyle/>
          <a:p>
            <a:pPr algn="ctr">
              <a:defRPr sz="1500" b="1">
                <a:solidFill>
                  <a:srgbClr val="FFFFFF"/>
                </a:solidFill>
              </a:defRPr>
            </a:pPr>
            <a:r>
              <a:t>6. Breakeven</a:t>
            </a:r>
          </a:p>
          <a:p>
            <a:pPr>
              <a:spcBef>
                <a:spcPts val="300"/>
              </a:spcBef>
              <a:defRPr sz="1100">
                <a:solidFill>
                  <a:srgbClr val="E2E8F0"/>
                </a:solidFill>
              </a:defRPr>
            </a:pPr>
            <a:r>
              <a:t>• Operational breakeven at Month 14</a:t>
            </a:r>
          </a:p>
          <a:p>
            <a:pPr>
              <a:spcBef>
                <a:spcPts val="300"/>
              </a:spcBef>
              <a:defRPr sz="1100">
                <a:solidFill>
                  <a:srgbClr val="E2E8F0"/>
                </a:solidFill>
              </a:defRPr>
            </a:pPr>
            <a:r>
              <a:t>• Year 2 delivers +₹17L EBITDA</a:t>
            </a:r>
          </a:p>
          <a:p>
            <a:pPr>
              <a:spcBef>
                <a:spcPts val="300"/>
              </a:spcBef>
              <a:defRPr sz="1100">
                <a:solidFill>
                  <a:srgbClr val="E2E8F0"/>
                </a:solidFill>
              </a:defRPr>
            </a:pPr>
            <a:r>
              <a:t>• Year 3 scales to +₹80L EBITDA</a:t>
            </a:r>
          </a:p>
        </p:txBody>
      </p:sp>
      <p:sp>
        <p:nvSpPr>
          <p:cNvPr id="13" name="Rounded Rectangle 12"/>
          <p:cNvSpPr/>
          <p:nvPr/>
        </p:nvSpPr>
        <p:spPr>
          <a:xfrm>
            <a:off x="6035040" y="3931920"/>
            <a:ext cx="2468880" cy="1920240"/>
          </a:xfrm>
          <a:prstGeom prst="roundRect">
            <a:avLst/>
          </a:prstGeom>
          <a:solidFill>
            <a:srgbClr val="131D33"/>
          </a:solidFill>
          <a:ln w="12700">
            <a:solidFill>
              <a:srgbClr val="22314E"/>
            </a:solidFill>
          </a:ln>
        </p:spPr>
        <p:style>
          <a:lnRef idx="1">
            <a:schemeClr val="accent1"/>
          </a:lnRef>
          <a:fillRef idx="3">
            <a:schemeClr val="accent1"/>
          </a:fillRef>
          <a:effectRef idx="2">
            <a:schemeClr val="accent1"/>
          </a:effectRef>
          <a:fontRef idx="minor">
            <a:schemeClr val="lt1"/>
          </a:fontRef>
        </p:style>
        <p:txBody>
          <a:bodyPr rtlCol="0" anchor="ctr" wrap="square" lIns="228600" rIns="228600" tIns="201168" bIns="182880"/>
          <a:lstStyle/>
          <a:p>
            <a:pPr algn="ctr">
              <a:defRPr sz="1500" b="1">
                <a:solidFill>
                  <a:srgbClr val="FFFFFF"/>
                </a:solidFill>
              </a:defRPr>
            </a:pPr>
            <a:r>
              <a:t>7. Moat vs Municipal</a:t>
            </a:r>
          </a:p>
          <a:p>
            <a:pPr>
              <a:spcBef>
                <a:spcPts val="300"/>
              </a:spcBef>
              <a:defRPr sz="1100">
                <a:solidFill>
                  <a:srgbClr val="E2E8F0"/>
                </a:solidFill>
              </a:defRPr>
            </a:pPr>
            <a:r>
              <a:t>• Certified multi-stream inputs (Biochar)</a:t>
            </a:r>
          </a:p>
          <a:p>
            <a:pPr>
              <a:spcBef>
                <a:spcPts val="300"/>
              </a:spcBef>
              <a:defRPr sz="1100">
                <a:solidFill>
                  <a:srgbClr val="E2E8F0"/>
                </a:solidFill>
              </a:defRPr>
            </a:pPr>
            <a:r>
              <a:t>• Doorstep digital purity grading</a:t>
            </a:r>
          </a:p>
          <a:p>
            <a:pPr>
              <a:spcBef>
                <a:spcPts val="300"/>
              </a:spcBef>
              <a:defRPr sz="1100">
                <a:solidFill>
                  <a:srgbClr val="E2E8F0"/>
                </a:solidFill>
              </a:defRPr>
            </a:pPr>
            <a:r>
              <a:t>• Guaranteed AI crop yield advisory</a:t>
            </a:r>
          </a:p>
        </p:txBody>
      </p:sp>
      <p:sp>
        <p:nvSpPr>
          <p:cNvPr id="14" name="Rounded Rectangle 13"/>
          <p:cNvSpPr/>
          <p:nvPr/>
        </p:nvSpPr>
        <p:spPr>
          <a:xfrm>
            <a:off x="8686800" y="3931920"/>
            <a:ext cx="2468880" cy="1920240"/>
          </a:xfrm>
          <a:prstGeom prst="roundRect">
            <a:avLst/>
          </a:prstGeom>
          <a:solidFill>
            <a:srgbClr val="131D33"/>
          </a:solidFill>
          <a:ln w="12700">
            <a:solidFill>
              <a:srgbClr val="22314E"/>
            </a:solidFill>
          </a:ln>
        </p:spPr>
        <p:style>
          <a:lnRef idx="1">
            <a:schemeClr val="accent1"/>
          </a:lnRef>
          <a:fillRef idx="3">
            <a:schemeClr val="accent1"/>
          </a:fillRef>
          <a:effectRef idx="2">
            <a:schemeClr val="accent1"/>
          </a:effectRef>
          <a:fontRef idx="minor">
            <a:schemeClr val="lt1"/>
          </a:fontRef>
        </p:style>
        <p:txBody>
          <a:bodyPr rtlCol="0" anchor="ctr" wrap="square" lIns="228600" rIns="228600" tIns="201168" bIns="182880"/>
          <a:lstStyle/>
          <a:p>
            <a:pPr algn="ctr">
              <a:defRPr sz="1500" b="1">
                <a:solidFill>
                  <a:srgbClr val="FFFFFF"/>
                </a:solidFill>
              </a:defRPr>
            </a:pPr>
            <a:r>
              <a:t>8. Policy Alignment</a:t>
            </a:r>
          </a:p>
          <a:p>
            <a:pPr>
              <a:spcBef>
                <a:spcPts val="300"/>
              </a:spcBef>
              <a:defRPr sz="1100">
                <a:solidFill>
                  <a:srgbClr val="E2E8F0"/>
                </a:solidFill>
              </a:defRPr>
            </a:pPr>
            <a:r>
              <a:t>• 100% compliant with SWM Rules 2016</a:t>
            </a:r>
          </a:p>
          <a:p>
            <a:pPr>
              <a:spcBef>
                <a:spcPts val="300"/>
              </a:spcBef>
              <a:defRPr sz="1100">
                <a:solidFill>
                  <a:srgbClr val="E2E8F0"/>
                </a:solidFill>
              </a:defRPr>
            </a:pPr>
            <a:r>
              <a:t>• Alings with Mission LiFE &amp; NCAP</a:t>
            </a:r>
          </a:p>
          <a:p>
            <a:pPr>
              <a:spcBef>
                <a:spcPts val="300"/>
              </a:spcBef>
              <a:defRPr sz="1100">
                <a:solidFill>
                  <a:srgbClr val="E2E8F0"/>
                </a:solidFill>
              </a:defRPr>
            </a:pPr>
            <a:r>
              <a:t>• Landfill methane abatement verified</a:t>
            </a:r>
          </a:p>
        </p:txBody>
      </p:sp>
    </p:spTree>
  </p:cSld>
  <p:clrMapOvr>
    <a:masterClrMapping/>
  </p:clrMapOvr>
  <p:transition spd="med">
    <p:fade/>
  </p:transition>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