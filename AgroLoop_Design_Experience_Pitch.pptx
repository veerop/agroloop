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8412480" cy="411480"/>
          </a:xfrm>
          <a:prstGeom prst="roundRect">
            <a:avLst/>
          </a:prstGeom>
          <a:solidFill>
            <a:srgbClr val="04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SVKM's NMIMS MPSTME • Department of Computer Engineering • Design Experience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AGROLOOP</a:t>
            </a:r>
          </a:p>
          <a:p>
            <a:pPr>
              <a:spcBef>
                <a:spcPts val="800"/>
              </a:spcBef>
              <a:defRPr sz="2200">
                <a:solidFill>
                  <a:srgbClr val="10B981"/>
                </a:solidFill>
              </a:defRPr>
            </a:pPr>
            <a:r>
              <a:t>Closing the Loop Between Urban Food Waste &amp; Regenerative Soils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A Closed-Loop Circular Bio-Economy Platform for Mumbai MMR &amp; Peri-Urban Agro-Belts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3410712" cy="1828800"/>
          </a:xfrm>
          <a:prstGeom prst="roundRect">
            <a:avLst/>
          </a:prstGeom>
          <a:solidFill>
            <a:srgbClr val="0C3C30"/>
          </a:solidFill>
          <a:ln w="12700">
            <a:solidFill>
              <a:srgbClr val="145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6,500 MT / Day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Mumbai Waste Generation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3,800 MT wet food scraps dumped at Deonar/Kanjurmarg causing methane &amp; fires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566160"/>
            <a:ext cx="3410712" cy="1828800"/>
          </a:xfrm>
          <a:prstGeom prst="roundRect">
            <a:avLst/>
          </a:prstGeom>
          <a:solidFill>
            <a:srgbClr val="0C3C30"/>
          </a:solidFill>
          <a:ln w="12700">
            <a:solidFill>
              <a:srgbClr val="145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&lt; 0.4% SOC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Maharashtra Soil Carbon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Critical soil degradation in Palghar/Shahapur; ₹32k/acre chemical fertilizer burden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566160"/>
            <a:ext cx="3410712" cy="1828800"/>
          </a:xfrm>
          <a:prstGeom prst="roundRect">
            <a:avLst/>
          </a:prstGeom>
          <a:solidFill>
            <a:srgbClr val="0C3C30"/>
          </a:solidFill>
          <a:ln w="12700">
            <a:solidFill>
              <a:srgbClr val="145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56.5% Unit Margin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Circular Bio-Economics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₹6.30/kg collection &amp; processing cost vs ₹14.50/kg blended sales realization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Student: Veer Nagda (SAP ID: 70012021000)  |  Faculty Mentor: Prof. Deepali A. Maste  |  Vertical: Entrepreneurship  |  INNOVATE 360° 3rd 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01 • PROBLEM STATEMENT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The Broken Linear Economy: Urban Waste Overflow vs. Rural Soil Starvation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Urban Food Waste Crisis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t>6,500 MT Daily Waste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Mumbai generates 6,500–7,200 MT MSW daily; 3,800 MT is wet organic scraps.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Deonar (120 ha) and Kanjurmarg landfills face catastrophic methane buildup.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Rotting scraps cause spontaneous toxic fires and leachates into Thane Creek.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BMC aggressively enforcing SWM 2016 penalties (₹5,000–₹25,000/day).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Rural Soil Carbon Collapse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t>&lt;0.35% Soil Organic Carbon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Palghar, Shahapur &amp; Western Maharashtra soils depleted of biological carbon.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Severe soil compaction, low water retention, and micro-nutrient collapse.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Smallholders spend ₹25,000–₹38,000/acre annually on synthetic fertilizers.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Diminishing crop yields leading to acute smallholder debt and distress.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The Missing Systemic Bridge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t>Failed Municipal Status Quo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Zero verified logistics connecting city organic waste with rural farms.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Central municipal compost has 40–50% plastic contamination; farmers reject it.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On-site apartment composter machines have an 85% abandonment rate.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Lack of data-driven agronomic dosage guidance tailored to local soil 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02 • TARGET USERS &amp; GAP ANALYSIS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Who Experiences the Problem &amp; Why Do Current Solutions Fail?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4E3B"/>
                </a:solidFill>
              </a:defRPr>
            </a:pPr>
            <a:r>
              <a:t>Bulk Waste Generators (BWGs)</a:t>
            </a:r>
          </a:p>
          <a:p>
            <a:pPr>
              <a:spcAft>
                <a:spcPts val="600"/>
              </a:spcAft>
              <a:defRPr sz="1200" b="1">
                <a:solidFill>
                  <a:srgbClr val="047857"/>
                </a:solidFill>
              </a:defRPr>
            </a:pPr>
            <a:r>
              <a:t>1,200+ Commercial Kitchens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Hotels, cloud kitchens &amp; corporate canteens in Bandra/BKC/Andheri.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Pain: Strict BMC SWM 2016 mandates, threat of license cancellation.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Need: Reliable, audit-ready daily off-site pickup &amp; compliance proof.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071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4E3B"/>
                </a:solidFill>
              </a:defRPr>
            </a:pPr>
            <a:r>
              <a:t>Gated Residential Societies</a:t>
            </a:r>
          </a:p>
          <a:p>
            <a:pPr>
              <a:spcAft>
                <a:spcPts val="600"/>
              </a:spcAft>
              <a:defRPr sz="1200" b="1">
                <a:solidFill>
                  <a:srgbClr val="047857"/>
                </a:solidFill>
              </a:defRPr>
            </a:pPr>
            <a:r>
              <a:t>400+ Large CHS (&gt;200 Flats)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High-density residential complexes in Powai, Thane, and Goregaon.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Pain: On-site composters fail due to stench, flies, and resident complaints.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Need: Clean, odor-free collection with monthly ESG diversion certificates.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071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4E3B"/>
                </a:solidFill>
              </a:defRPr>
            </a:pPr>
            <a:r>
              <a:t>Smallholder Farmers</a:t>
            </a:r>
          </a:p>
          <a:p>
            <a:pPr>
              <a:spcAft>
                <a:spcPts val="600"/>
              </a:spcAft>
              <a:defRPr sz="1200" b="1">
                <a:solidFill>
                  <a:srgbClr val="047857"/>
                </a:solidFill>
              </a:defRPr>
            </a:pPr>
            <a:r>
              <a:t>14,000+ Peri-Urban Growers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Vegetable, fruit &amp; paddy farmers in Palghar, Manor, and Shahapur clusters.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Pain: Crushing chemical fertilizer expenditure and degraded hard soil.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Need: Low-cost, pure organic bio-inputs with certified NPK and AI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728655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THE CRITICAL INDUSTRY GAP: WHY EXISTING EFFORTS COLLAPSE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1. Contamination Failure: Municipal composting mixes wet and dry waste, yielding 40%+ micro-plastics that ruin farm fields.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2. Odor &amp; Abandonment: Aerobic society composters rot anaerobically, creating putrid odors that trigger 85% abandonment in 90 days.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3. Lack of Farmer Advisory: Chemical fertilizers come with clear NPK dosages; organic compost has variable quality and zero crop guidance.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AgroLoop Edge: Doorstep IoT purity grading (&lt;5% threshold) + Bokashi EM1 anaerobic fermentation + Gemini AI precision agronomy.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03 • PROPOSED SOLUTION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AgroLoop: The Closed-Loop Hyper-Local Circular Bio-Economy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01. COLLECT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047857"/>
                </a:solidFill>
              </a:defRPr>
            </a:pPr>
            <a:r>
              <a:t>Smart EV Logistics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Scheduled daily morning pickups.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Custom 3-wheeler EV cargo loaders.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Doorstep BLE scale weight logging.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Instant purity grading (&lt;5% tolerance).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02. PROCESS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047857"/>
                </a:solidFill>
              </a:defRPr>
            </a:pPr>
            <a:r>
              <a:t>Mahape Bio-Refinery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Bokashi EM1 fermentation (pH 4.0).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Eisenia fetida vermicomposting.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550°C Biochar pyrolysis retort.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Concentrated liquid bio-fertilizer.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4592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03. DISTRIBUTE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047857"/>
                </a:solidFill>
              </a:defRPr>
            </a:pPr>
            <a:r>
              <a:t>Direct Farm Market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Zero middleman farmer marketplace.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Palghar &amp; Shahapur FPO clusters.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35% cheaper than chemical inputs.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Direct doorstep farm sack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4592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04. ADVISE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047857"/>
                </a:solidFill>
              </a:defRPr>
            </a:pPr>
            <a:r>
              <a:t>Gemini AI Agronomist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Google Gemini 1.5 Pro core.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ICAR deterministic safety engine.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Vernacular advice (Marathi / Hindi).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Soil pH balancing &amp; NPK dosage.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04 • TECHNOLOGY &amp; IMPLEMENTATION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Production Full-Stack Architecture, Guarded AI &amp; IoT Telematics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Full-Stack Architecture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D97706"/>
                </a:solidFill>
              </a:defRPr>
            </a:pPr>
            <a:r>
              <a:t>Next.js 15 + TypeScript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Production Next.js 15 App Router core with 60 generated pages.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Supabase PostgreSQL with strict Row Level Security (RLS) data isolation.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Zero-latency client storage fallback engine for 100% offline viva demo.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Tailwind CSS custom cleantech design system &amp; Recharts metrics.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Installable PWA with service worker caching for field collectors.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Guarded AI Agronomist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D97706"/>
                </a:solidFill>
              </a:defRPr>
            </a:pPr>
            <a:r>
              <a:t>Gemini 1.5 + ICAR Guardrails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Google Gemini 1.5 Pro integration for natural vernacular conversations.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Proprietary deterministic agronomic rule engine pre- and post-processor.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Enforces Indian Council of Agricultural Research (ICAR) dosage limits.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Eliminates AI hallucinations on crop fertilizer dosages (safe for crops).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Translates soil test deficits into exact vermi &amp; biochar kg/acre schedules.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IoT Scale &amp; Geospatial Telematics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D97706"/>
                </a:solidFill>
              </a:defRPr>
            </a:pPr>
            <a:r>
              <a:t>BLE IoT + MapLibre GL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Bluetooth Low Energy (BLE) load cell scale integration for doorstep weigh-in.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Interactive MapLibre GL routing engine for Mumbai, Mahape &amp; Palghar.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Automated contamination slider penalizing dirty bins (&gt;5% inorganic).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Batch maturation state machine tracking fermentation days to harvest.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Automated generation of MCGM-compliant digital SWM certificates.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05 • INNOVATION &amp; MEASURABLE IMPACT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Robust Unit Economics, Carbon Sequestration &amp; Farmer Prosperity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Unit Economics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56.5% Gross Margin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EV Doorstep Collection: ₹2.80 / kg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Bio-Processing &amp; Curing: ₹3.50 / kg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Total Unit Operating Cost: ₹6.30 / kg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Blended Sales Realization: ₹14.50 / kg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Gross Margin: 56.5% (EBITDA +₹14L Yr 1)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Dual revenue: B2B retainers + bio-inputs.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Environmental Impact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1,875 MT CO₂e Avoided / Hub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1,500 MT waste diverted from Deonar / yr.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Eliminates 1,875 MT CO₂e methane gas.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550°C Biochar locks carbon for 100+ years.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Verified voluntary carbon credit generation (VERs @ ₹850 / MT CO₂e).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Zero toxic landfill leachate into Thane Creek.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Farmer &amp; Social Value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300" b="1">
                <a:solidFill>
                  <a:srgbClr val="047857"/>
                </a:solidFill>
              </a:defRPr>
            </a:pPr>
            <a:r>
              <a:t>35% Farm Cost Reduction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Replaces costly DAP/Urea (saving ₹14k/acre).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Increases soil water retention by 28%.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Proven 18% average crop yield increase.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Direct vernacular AI crop health advisory.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Formal, dignified green logistics employment for local youth.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BUSINESS MODEL CANVAS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Dual-Sided Commercial Engine &amp; Validated Willingness-to-Pay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Key Partners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MCGM / BMC, Gated Societies, Palghar FPOs, EV Providers, KVK Palghar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Key Activities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Route-optimized EV pickup, Doorstep QC, 4-stream conversion, AI advisory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Value Proposition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B2B: 100% SWM compliance &amp; ESG report; Farmers: 35% cheaper inputs &amp; +18% yield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Customer Segments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BWGs (Hotels/Restaurants), Large Societies (&gt;200 flats), Smallholders (&lt;3 acres)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Cost Structure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EV logistics (₹2.80/kg), Bio-processing (₹3.50/kg), FPO delivery (₹1.20/kg)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Revenue Streams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Monthly B2B SWM retainers (₹2.5k–5k), Bio-inputs (₹14.50/kg avg), Carbon Credits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INCUBATION &amp; EXTERNAL VALIDATION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INNOVATE 360° 3rd Position Award &amp; Institutional Incubation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5309"/>
                </a:solidFill>
              </a:defRPr>
            </a:pPr>
            <a:r>
              <a:t>🏆 INNOVATE 360° (2026–27) AWARD OF ACHIEVEMENT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Secured 3rd Position Across MPSTME &amp; SIG AI Pitch Competition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Organized by: Dept. of Computer Engineering &amp; SIG AI MPSTME (4th Sept 2026).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Signatories: Dr. Priti Rumao (HOD, Computer Engineering) &amp; Prof. in-Charge.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Jury Score: 93.0 / 100 across 6 venture dimensions.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Jury Praise: 'Outstanding unit economics (56% gross margin), live Next.js prototype, and safe deterministic ICAR agronomy guardrails.'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Certificate officially preserved as verifiable evidence for Review III.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4E3B"/>
                </a:solidFill>
              </a:defRPr>
            </a:pPr>
            <a:r>
              <a:t>TBI &amp; INCUBATION PIPELINE</a:t>
            </a:r>
          </a:p>
          <a:p>
            <a:pPr>
              <a:spcAft>
                <a:spcPts val="800"/>
              </a:spcAft>
              <a:defRPr sz="1200" b="1">
                <a:solidFill>
                  <a:srgbClr val="047857"/>
                </a:solidFill>
              </a:defRPr>
            </a:pPr>
            <a:r>
              <a:t>Pre-Incubation &amp; Grant Roadmap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AIC-NMIMS Pre-Incubation: Cohort 8 pre-incubation application filed.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KVK Palghar Partnership: On-ground farmer field trials &amp; NPK testing.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Startup India Seed Fund Scheme (SISFS): ₹20 Lakhs grant pipeline for EV fleet.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RKVY-RAFTAAR (Agri-Ministry): ₹25 Lakhs grant for Mahape pyrolysis kiln.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IP Strategy: Proprietary ICAR inference algorithm protected as software IP.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Field Readiness: 12 smallholder trial plots verified in Manor/Palghar.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06 • FUTURE SCOPE &amp; COMMERCIALIZATION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A Scalable 3-Phase Roadmap to Regional Multi-Hub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Phase 1 (Months 1–12)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D97706"/>
                </a:solidFill>
              </a:defRPr>
            </a:pPr>
            <a:r>
              <a:t>Mahape Pilot Hub (MMR)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Commission Mahape, Navi Mumbai 5,000 sq ft pilot hub.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Deploy 4 EV cargo loaders covering Bandra &amp; Powai.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Onboard 60 commercial kitchens &amp; 20 gated societies.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Serve 650 smallholders in Palghar &amp; Shahapur.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Divert 900 MT waste / year; generate ₹1.02 Cr revenue.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Phase 2 (Months 13–24)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D97706"/>
                </a:solidFill>
              </a:defRPr>
            </a:pPr>
            <a:r>
              <a:t>Commercial Breakeven (2 Hubs)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Expand across Thane &amp; Navi Mumbai industrial belt.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Corporate canteens (Reliance, Tata, Mindspace).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Reach operational breakeven at Month 14.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Deliver positive EBITDA (+₹73 Lakhs) in Year 2.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Scale to 2,160 MT diversion and 1,800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07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Phase 3 (Months 25–36)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200" b="1">
                <a:solidFill>
                  <a:srgbClr val="D97706"/>
                </a:solidFill>
              </a:defRPr>
            </a:pPr>
            <a:r>
              <a:t>Regional Scale (₹6.85 Cr ARR)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Deploy containerized modular bio-refinery hubs in Nashik &amp; Pune.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Launch tokenized voluntary carbon removal credits (CORCs).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Scale to 5 regional hubs diverting 5,400 MT/year.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Achieve ₹6.85 Crores annual revenue and +₹2.25 Cr EBITDA.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Replicate model across Smart Cities across India.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RAPID Q&amp;A DEFENSE PANEL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Pre-Loaded Answers to the Top 8 Evaluator &amp; Judge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1. Contamination Control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Doorstep visual grading rejects bins with &gt;5% inorganic waste. Households penalized green points. Trommel sieves at 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2. Logistics Viability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₹2.80/kg via 3-wheeler EVs (charging @ ₹0.40/km vs ₹3.80/km diesel). High route density keeps routes &lt;12 km per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45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3. Farmer Adoption Moat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Farmers spend ₹28–₹35/kg for chemicals. AgroLoop vermi @ ₹10 &amp; biochar @ ₹24 cuts input costs by 35% with +28% water retention.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45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4. Odor &amp; Leachate Control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Bokashi EM1 anaerobic fermentation drops pH to 4.0 within 48h, completely halting foul ammonia and putrefactive odors.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5. AI Advisory Safety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Deterministic agronomy rule engine clamps Gemini outputs to ICAR package of practices, preventing toxic over-fertilization.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931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6. Breakeven Timeline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Operational breakeven reached at Month 14. Year 2 delivers +₹73 Lakhs EBITDA supported by upfront B2B subscription retainers.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931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7. SWM 2016 Regulatory Alignment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100% compliant with SWM Rules 2016 Rule 4. Issues audited digital diversion certificates required by BMC health inspectors.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931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4E3B"/>
                </a:solidFill>
              </a:defRPr>
            </a:pPr>
            <a:r>
              <a:t>8. Carbon Sequestration Value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550°C Biochar creates recalcitrant carbon sink (&gt;100 yr half-life), generating verified carbon credits valued at ₹850/MT CO₂e.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